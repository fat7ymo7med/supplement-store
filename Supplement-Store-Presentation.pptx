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6" r:id="rId3"/>
    <p:sldId id="277" r:id="rId4"/>
    <p:sldId id="278" r:id="rId5"/>
    <p:sldId id="279" r:id="rId6"/>
    <p:sldId id="280" r:id="rId7"/>
    <p:sldId id="275" r:id="rId8"/>
    <p:sldId id="281" r:id="rId9"/>
    <p:sldId id="282" r:id="rId10"/>
    <p:sldId id="283" r:id="rId11"/>
    <p:sldId id="284" r:id="rId12"/>
    <p:sldId id="285" r:id="rId13"/>
    <p:sldId id="286" r:id="rId14"/>
    <p:sldId id="288" r:id="rId15"/>
    <p:sldId id="287" r:id="rId16"/>
    <p:sldId id="289" r:id="rId17"/>
    <p:sldId id="290" r:id="rId18"/>
    <p:sldId id="291" r:id="rId19"/>
    <p:sldId id="292" r:id="rId20"/>
  </p:sldIdLst>
  <p:sldSz cx="18288000" cy="10287000"/>
  <p:notesSz cx="6858000" cy="9144000"/>
  <p:embeddedFontLst>
    <p:embeddedFont>
      <p:font typeface="Kollektif" panose="020B0604020202020204" charset="0"/>
      <p:regular r:id="rId21"/>
    </p:embeddedFont>
    <p:embeddedFont>
      <p:font typeface="Kollektif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2447"/>
    <a:srgbClr val="0D2F5A"/>
    <a:srgbClr val="3E4B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344400" y="-3949309"/>
            <a:ext cx="24031566" cy="20516950"/>
          </a:xfrm>
          <a:custGeom>
            <a:avLst/>
            <a:gdLst/>
            <a:ahLst/>
            <a:cxnLst/>
            <a:rect l="l" t="t" r="r" b="b"/>
            <a:pathLst>
              <a:path w="24031566" h="20516950">
                <a:moveTo>
                  <a:pt x="0" y="0"/>
                </a:moveTo>
                <a:lnTo>
                  <a:pt x="24031567" y="0"/>
                </a:lnTo>
                <a:lnTo>
                  <a:pt x="24031567" y="20516950"/>
                </a:lnTo>
                <a:lnTo>
                  <a:pt x="0" y="20516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752600" y="495300"/>
            <a:ext cx="14782800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</a:rPr>
              <a:t>Supplement Store </a:t>
            </a:r>
            <a:br>
              <a:rPr lang="ar-EG" sz="6600" dirty="0">
                <a:solidFill>
                  <a:schemeClr val="bg1"/>
                </a:solidFill>
              </a:rPr>
            </a:br>
            <a:r>
              <a:rPr lang="en-US" sz="6600" dirty="0">
                <a:solidFill>
                  <a:schemeClr val="bg1"/>
                </a:solidFill>
              </a:rPr>
              <a:t>E-Commerce Frontend (React)</a:t>
            </a:r>
            <a:endParaRPr lang="en-US" sz="6600" b="1" spc="-790" dirty="0">
              <a:solidFill>
                <a:schemeClr val="bg1"/>
              </a:solidFill>
              <a:latin typeface="Kollektif Bold"/>
              <a:ea typeface="Kollektif Bold"/>
              <a:cs typeface="Kollektif Bold"/>
              <a:sym typeface="Kollektif Bold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063D4CF0-EADE-00BD-01ED-1F98D470B9E5}"/>
              </a:ext>
            </a:extLst>
          </p:cNvPr>
          <p:cNvGrpSpPr/>
          <p:nvPr/>
        </p:nvGrpSpPr>
        <p:grpSpPr>
          <a:xfrm>
            <a:off x="604600" y="2138091"/>
            <a:ext cx="8009106" cy="7256642"/>
            <a:chOff x="-41419" y="-85725"/>
            <a:chExt cx="1420075" cy="1601086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1C7E288B-0DF0-F402-6F4A-54C919DF485A}"/>
                </a:ext>
              </a:extLst>
            </p:cNvPr>
            <p:cNvSpPr/>
            <p:nvPr/>
          </p:nvSpPr>
          <p:spPr>
            <a:xfrm>
              <a:off x="-41419" y="56191"/>
              <a:ext cx="1378656" cy="1459170"/>
            </a:xfrm>
            <a:custGeom>
              <a:avLst/>
              <a:gdLst/>
              <a:ahLst/>
              <a:cxnLst/>
              <a:rect l="l" t="t" r="r" b="b"/>
              <a:pathLst>
                <a:path w="1378656" h="1459170">
                  <a:moveTo>
                    <a:pt x="50780" y="0"/>
                  </a:moveTo>
                  <a:lnTo>
                    <a:pt x="1327876" y="0"/>
                  </a:lnTo>
                  <a:cubicBezTo>
                    <a:pt x="1355921" y="0"/>
                    <a:pt x="1378656" y="22735"/>
                    <a:pt x="1378656" y="50780"/>
                  </a:cubicBezTo>
                  <a:lnTo>
                    <a:pt x="1378656" y="1408391"/>
                  </a:lnTo>
                  <a:cubicBezTo>
                    <a:pt x="1378656" y="1436436"/>
                    <a:pt x="1355921" y="1459170"/>
                    <a:pt x="1327876" y="1459170"/>
                  </a:cubicBezTo>
                  <a:lnTo>
                    <a:pt x="50780" y="1459170"/>
                  </a:lnTo>
                  <a:cubicBezTo>
                    <a:pt x="22735" y="1459170"/>
                    <a:pt x="0" y="1436436"/>
                    <a:pt x="0" y="1408391"/>
                  </a:cubicBezTo>
                  <a:lnTo>
                    <a:pt x="0" y="50780"/>
                  </a:lnTo>
                  <a:cubicBezTo>
                    <a:pt x="0" y="22735"/>
                    <a:pt x="22735" y="0"/>
                    <a:pt x="5078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FA8E1806-8186-FCF4-82AB-5F27806550FE}"/>
                </a:ext>
              </a:extLst>
            </p:cNvPr>
            <p:cNvSpPr txBox="1"/>
            <p:nvPr/>
          </p:nvSpPr>
          <p:spPr>
            <a:xfrm>
              <a:off x="0" y="-85725"/>
              <a:ext cx="1378656" cy="1544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TextBox 9">
            <a:extLst>
              <a:ext uri="{FF2B5EF4-FFF2-40B4-BE49-F238E27FC236}">
                <a16:creationId xmlns:a16="http://schemas.microsoft.com/office/drawing/2014/main" id="{4B6AB9D9-F635-2251-C704-B4B542322F3E}"/>
              </a:ext>
            </a:extLst>
          </p:cNvPr>
          <p:cNvSpPr txBox="1"/>
          <p:nvPr/>
        </p:nvSpPr>
        <p:spPr>
          <a:xfrm>
            <a:off x="1087464" y="2933700"/>
            <a:ext cx="6819771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72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Created</a:t>
            </a:r>
            <a:r>
              <a:rPr lang="en-US" sz="7200" u="none" strike="noStrike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 By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12BFE2-C305-04AF-7C5B-510E6F3FDB7F}"/>
              </a:ext>
            </a:extLst>
          </p:cNvPr>
          <p:cNvSpPr txBox="1"/>
          <p:nvPr/>
        </p:nvSpPr>
        <p:spPr>
          <a:xfrm>
            <a:off x="866356" y="4500239"/>
            <a:ext cx="639013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Fathy Mohamed Fathy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Mostafa Mohamed Kandel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Mahmoud Salah Daba</a:t>
            </a:r>
            <a:endParaRPr lang="ar-EG" sz="3200" dirty="0">
              <a:solidFill>
                <a:schemeClr val="bg1"/>
              </a:solidFill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Ziad Amro Elhefnawy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Walid Nasser </a:t>
            </a:r>
            <a:r>
              <a:rPr lang="en-US" sz="3200" dirty="0" err="1">
                <a:solidFill>
                  <a:schemeClr val="bg1"/>
                </a:solidFill>
              </a:rPr>
              <a:t>Elzanaty</a:t>
            </a:r>
            <a:endParaRPr lang="en-US" sz="3200" dirty="0">
              <a:solidFill>
                <a:schemeClr val="bg1"/>
              </a:solidFill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Ahmed Fady Elsayed Dawood</a:t>
            </a:r>
            <a:endParaRPr lang="ar-EG" sz="3200" dirty="0">
              <a:solidFill>
                <a:schemeClr val="bg1"/>
              </a:solidFill>
            </a:endParaRPr>
          </a:p>
        </p:txBody>
      </p:sp>
      <p:grpSp>
        <p:nvGrpSpPr>
          <p:cNvPr id="15" name="Group 3">
            <a:extLst>
              <a:ext uri="{FF2B5EF4-FFF2-40B4-BE49-F238E27FC236}">
                <a16:creationId xmlns:a16="http://schemas.microsoft.com/office/drawing/2014/main" id="{3C2B6AEC-6BFB-5FAF-03F3-84AE6A64FD1F}"/>
              </a:ext>
            </a:extLst>
          </p:cNvPr>
          <p:cNvGrpSpPr/>
          <p:nvPr/>
        </p:nvGrpSpPr>
        <p:grpSpPr>
          <a:xfrm>
            <a:off x="9528106" y="2138091"/>
            <a:ext cx="8009106" cy="7256642"/>
            <a:chOff x="-41419" y="-85725"/>
            <a:chExt cx="1420075" cy="1601086"/>
          </a:xfrm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9DBDD6B0-8017-7D71-B6F2-9C1635DC7394}"/>
                </a:ext>
              </a:extLst>
            </p:cNvPr>
            <p:cNvSpPr/>
            <p:nvPr/>
          </p:nvSpPr>
          <p:spPr>
            <a:xfrm>
              <a:off x="-41419" y="56191"/>
              <a:ext cx="1378656" cy="1459170"/>
            </a:xfrm>
            <a:custGeom>
              <a:avLst/>
              <a:gdLst/>
              <a:ahLst/>
              <a:cxnLst/>
              <a:rect l="l" t="t" r="r" b="b"/>
              <a:pathLst>
                <a:path w="1378656" h="1459170">
                  <a:moveTo>
                    <a:pt x="50780" y="0"/>
                  </a:moveTo>
                  <a:lnTo>
                    <a:pt x="1327876" y="0"/>
                  </a:lnTo>
                  <a:cubicBezTo>
                    <a:pt x="1355921" y="0"/>
                    <a:pt x="1378656" y="22735"/>
                    <a:pt x="1378656" y="50780"/>
                  </a:cubicBezTo>
                  <a:lnTo>
                    <a:pt x="1378656" y="1408391"/>
                  </a:lnTo>
                  <a:cubicBezTo>
                    <a:pt x="1378656" y="1436436"/>
                    <a:pt x="1355921" y="1459170"/>
                    <a:pt x="1327876" y="1459170"/>
                  </a:cubicBezTo>
                  <a:lnTo>
                    <a:pt x="50780" y="1459170"/>
                  </a:lnTo>
                  <a:cubicBezTo>
                    <a:pt x="22735" y="1459170"/>
                    <a:pt x="0" y="1436436"/>
                    <a:pt x="0" y="1408391"/>
                  </a:cubicBezTo>
                  <a:lnTo>
                    <a:pt x="0" y="50780"/>
                  </a:lnTo>
                  <a:cubicBezTo>
                    <a:pt x="0" y="22735"/>
                    <a:pt x="22735" y="0"/>
                    <a:pt x="5078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5">
              <a:extLst>
                <a:ext uri="{FF2B5EF4-FFF2-40B4-BE49-F238E27FC236}">
                  <a16:creationId xmlns:a16="http://schemas.microsoft.com/office/drawing/2014/main" id="{4DBDA62B-7FF4-1CEA-72FC-E34A96AFBFEE}"/>
                </a:ext>
              </a:extLst>
            </p:cNvPr>
            <p:cNvSpPr txBox="1"/>
            <p:nvPr/>
          </p:nvSpPr>
          <p:spPr>
            <a:xfrm>
              <a:off x="0" y="-85725"/>
              <a:ext cx="1378656" cy="1544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8" name="TextBox 9">
            <a:extLst>
              <a:ext uri="{FF2B5EF4-FFF2-40B4-BE49-F238E27FC236}">
                <a16:creationId xmlns:a16="http://schemas.microsoft.com/office/drawing/2014/main" id="{D745D5FA-2DC2-7EBC-118D-94F910786E40}"/>
              </a:ext>
            </a:extLst>
          </p:cNvPr>
          <p:cNvSpPr txBox="1"/>
          <p:nvPr/>
        </p:nvSpPr>
        <p:spPr>
          <a:xfrm>
            <a:off x="10005973" y="4500239"/>
            <a:ext cx="6819771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7200" u="none" strike="noStrike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I</a:t>
            </a:r>
            <a:r>
              <a:rPr lang="en-US" sz="72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nstructor</a:t>
            </a:r>
            <a:endParaRPr lang="en-US" sz="7200" u="none" strike="noStrike" dirty="0">
              <a:solidFill>
                <a:srgbClr val="FFFFFF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0C7031B2-E633-65A9-989F-6CC89AA94EC5}"/>
              </a:ext>
            </a:extLst>
          </p:cNvPr>
          <p:cNvSpPr txBox="1"/>
          <p:nvPr/>
        </p:nvSpPr>
        <p:spPr>
          <a:xfrm>
            <a:off x="9650239" y="6346017"/>
            <a:ext cx="753123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66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Eng/Sally Ebrahim</a:t>
            </a:r>
            <a:endParaRPr lang="en-US" sz="6600" u="none" strike="noStrike" dirty="0">
              <a:solidFill>
                <a:srgbClr val="FFFFFF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7DDD2D2-A264-8105-CC53-084E5E6AE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1477" y="0"/>
            <a:ext cx="1140251" cy="114694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E4E58A9-1992-EF13-D221-500348EC5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24E031-D7CD-4A1A-0BDE-8B7DEA79A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5A9CAA9-C986-0A0F-F160-CF0D61B7AA5F}"/>
              </a:ext>
            </a:extLst>
          </p:cNvPr>
          <p:cNvSpPr/>
          <p:nvPr/>
        </p:nvSpPr>
        <p:spPr>
          <a:xfrm flipH="1">
            <a:off x="-5747987" y="-654129"/>
            <a:ext cx="22707876" cy="18563688"/>
          </a:xfrm>
          <a:custGeom>
            <a:avLst/>
            <a:gdLst/>
            <a:ahLst/>
            <a:cxnLst/>
            <a:rect l="l" t="t" r="r" b="b"/>
            <a:pathLst>
              <a:path w="22707876" h="18563688">
                <a:moveTo>
                  <a:pt x="22707875" y="0"/>
                </a:moveTo>
                <a:lnTo>
                  <a:pt x="0" y="0"/>
                </a:lnTo>
                <a:lnTo>
                  <a:pt x="0" y="18563688"/>
                </a:lnTo>
                <a:lnTo>
                  <a:pt x="22707875" y="18563688"/>
                </a:lnTo>
                <a:lnTo>
                  <a:pt x="2270787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7EE38C8F-36FC-0D5E-2F61-C6F54265676C}"/>
              </a:ext>
            </a:extLst>
          </p:cNvPr>
          <p:cNvSpPr txBox="1"/>
          <p:nvPr/>
        </p:nvSpPr>
        <p:spPr>
          <a:xfrm>
            <a:off x="1524000" y="461950"/>
            <a:ext cx="859147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Agenda</a:t>
            </a:r>
            <a:endParaRPr lang="en-US" sz="7200" u="none" strike="noStrike" dirty="0">
              <a:solidFill>
                <a:srgbClr val="FFFFFF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sp>
        <p:nvSpPr>
          <p:cNvPr id="25" name="AutoShape 2">
            <a:extLst>
              <a:ext uri="{FF2B5EF4-FFF2-40B4-BE49-F238E27FC236}">
                <a16:creationId xmlns:a16="http://schemas.microsoft.com/office/drawing/2014/main" id="{28B26720-D09A-AAAD-9B42-D49D13B1EBE9}"/>
              </a:ext>
            </a:extLst>
          </p:cNvPr>
          <p:cNvSpPr/>
          <p:nvPr/>
        </p:nvSpPr>
        <p:spPr>
          <a:xfrm>
            <a:off x="1314370" y="1638300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Box 9">
            <a:extLst>
              <a:ext uri="{FF2B5EF4-FFF2-40B4-BE49-F238E27FC236}">
                <a16:creationId xmlns:a16="http://schemas.microsoft.com/office/drawing/2014/main" id="{012D489C-7E30-A1FD-FE3E-31A0A6C9EC08}"/>
              </a:ext>
            </a:extLst>
          </p:cNvPr>
          <p:cNvSpPr txBox="1"/>
          <p:nvPr/>
        </p:nvSpPr>
        <p:spPr>
          <a:xfrm>
            <a:off x="1321865" y="1703756"/>
            <a:ext cx="3306073" cy="554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introduction</a:t>
            </a:r>
          </a:p>
        </p:txBody>
      </p:sp>
      <p:sp>
        <p:nvSpPr>
          <p:cNvPr id="34" name="AutoShape 2">
            <a:extLst>
              <a:ext uri="{FF2B5EF4-FFF2-40B4-BE49-F238E27FC236}">
                <a16:creationId xmlns:a16="http://schemas.microsoft.com/office/drawing/2014/main" id="{8B70F26A-023A-587A-FEA7-0882620B249B}"/>
              </a:ext>
            </a:extLst>
          </p:cNvPr>
          <p:cNvSpPr/>
          <p:nvPr/>
        </p:nvSpPr>
        <p:spPr>
          <a:xfrm>
            <a:off x="1289386" y="2297830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AutoShape 2">
            <a:extLst>
              <a:ext uri="{FF2B5EF4-FFF2-40B4-BE49-F238E27FC236}">
                <a16:creationId xmlns:a16="http://schemas.microsoft.com/office/drawing/2014/main" id="{00845000-3DAC-831A-1857-BD46338767B5}"/>
              </a:ext>
            </a:extLst>
          </p:cNvPr>
          <p:cNvSpPr/>
          <p:nvPr/>
        </p:nvSpPr>
        <p:spPr>
          <a:xfrm>
            <a:off x="1289386" y="3063514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Box 9">
            <a:extLst>
              <a:ext uri="{FF2B5EF4-FFF2-40B4-BE49-F238E27FC236}">
                <a16:creationId xmlns:a16="http://schemas.microsoft.com/office/drawing/2014/main" id="{AA5DFCAF-79E0-1F65-6A0E-62D37CC57C8F}"/>
              </a:ext>
            </a:extLst>
          </p:cNvPr>
          <p:cNvSpPr txBox="1"/>
          <p:nvPr/>
        </p:nvSpPr>
        <p:spPr>
          <a:xfrm>
            <a:off x="1328111" y="2395969"/>
            <a:ext cx="4266968" cy="482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Problem Statement</a:t>
            </a:r>
          </a:p>
        </p:txBody>
      </p:sp>
      <p:sp>
        <p:nvSpPr>
          <p:cNvPr id="39" name="AutoShape 2">
            <a:extLst>
              <a:ext uri="{FF2B5EF4-FFF2-40B4-BE49-F238E27FC236}">
                <a16:creationId xmlns:a16="http://schemas.microsoft.com/office/drawing/2014/main" id="{29C20F01-8CE8-DFEB-421B-C708EE983D97}"/>
              </a:ext>
            </a:extLst>
          </p:cNvPr>
          <p:cNvSpPr/>
          <p:nvPr/>
        </p:nvSpPr>
        <p:spPr>
          <a:xfrm>
            <a:off x="1295632" y="3650576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Box 9">
            <a:extLst>
              <a:ext uri="{FF2B5EF4-FFF2-40B4-BE49-F238E27FC236}">
                <a16:creationId xmlns:a16="http://schemas.microsoft.com/office/drawing/2014/main" id="{C81C8802-5ED3-80AE-D2B6-02C2E7FED8F0}"/>
              </a:ext>
            </a:extLst>
          </p:cNvPr>
          <p:cNvSpPr txBox="1"/>
          <p:nvPr/>
        </p:nvSpPr>
        <p:spPr>
          <a:xfrm>
            <a:off x="1295632" y="3066530"/>
            <a:ext cx="4266968" cy="482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Proposed Solution</a:t>
            </a:r>
          </a:p>
        </p:txBody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7622D7C8-EF58-769C-F956-7B512F596D38}"/>
              </a:ext>
            </a:extLst>
          </p:cNvPr>
          <p:cNvSpPr/>
          <p:nvPr/>
        </p:nvSpPr>
        <p:spPr>
          <a:xfrm>
            <a:off x="1295632" y="4310904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TextBox 9">
            <a:extLst>
              <a:ext uri="{FF2B5EF4-FFF2-40B4-BE49-F238E27FC236}">
                <a16:creationId xmlns:a16="http://schemas.microsoft.com/office/drawing/2014/main" id="{61CF8391-6711-D452-151B-B9EA8B0544A5}"/>
              </a:ext>
            </a:extLst>
          </p:cNvPr>
          <p:cNvSpPr txBox="1"/>
          <p:nvPr/>
        </p:nvSpPr>
        <p:spPr>
          <a:xfrm>
            <a:off x="1295632" y="3726858"/>
            <a:ext cx="4266968" cy="482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System Architecture</a:t>
            </a:r>
          </a:p>
        </p:txBody>
      </p:sp>
      <p:sp>
        <p:nvSpPr>
          <p:cNvPr id="43" name="AutoShape 2">
            <a:extLst>
              <a:ext uri="{FF2B5EF4-FFF2-40B4-BE49-F238E27FC236}">
                <a16:creationId xmlns:a16="http://schemas.microsoft.com/office/drawing/2014/main" id="{659269F4-9739-6F7E-F325-1257CA3FA445}"/>
              </a:ext>
            </a:extLst>
          </p:cNvPr>
          <p:cNvSpPr/>
          <p:nvPr/>
        </p:nvSpPr>
        <p:spPr>
          <a:xfrm>
            <a:off x="1288137" y="4931032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TextBox 9">
            <a:extLst>
              <a:ext uri="{FF2B5EF4-FFF2-40B4-BE49-F238E27FC236}">
                <a16:creationId xmlns:a16="http://schemas.microsoft.com/office/drawing/2014/main" id="{F9E6B31B-9759-2CA9-4496-AD8144F62FD1}"/>
              </a:ext>
            </a:extLst>
          </p:cNvPr>
          <p:cNvSpPr txBox="1"/>
          <p:nvPr/>
        </p:nvSpPr>
        <p:spPr>
          <a:xfrm>
            <a:off x="1288137" y="4346986"/>
            <a:ext cx="4266968" cy="482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Tech Stack</a:t>
            </a:r>
          </a:p>
        </p:txBody>
      </p:sp>
      <p:sp>
        <p:nvSpPr>
          <p:cNvPr id="47" name="AutoShape 2">
            <a:extLst>
              <a:ext uri="{FF2B5EF4-FFF2-40B4-BE49-F238E27FC236}">
                <a16:creationId xmlns:a16="http://schemas.microsoft.com/office/drawing/2014/main" id="{40C353C3-D4DB-871D-7FCF-70225F807637}"/>
              </a:ext>
            </a:extLst>
          </p:cNvPr>
          <p:cNvSpPr/>
          <p:nvPr/>
        </p:nvSpPr>
        <p:spPr>
          <a:xfrm>
            <a:off x="1288137" y="5615298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TextBox 9">
            <a:extLst>
              <a:ext uri="{FF2B5EF4-FFF2-40B4-BE49-F238E27FC236}">
                <a16:creationId xmlns:a16="http://schemas.microsoft.com/office/drawing/2014/main" id="{0137DF64-13F8-E4F5-56E8-3A8C75F6C9C6}"/>
              </a:ext>
            </a:extLst>
          </p:cNvPr>
          <p:cNvSpPr txBox="1"/>
          <p:nvPr/>
        </p:nvSpPr>
        <p:spPr>
          <a:xfrm>
            <a:off x="1295632" y="5002600"/>
            <a:ext cx="4266968" cy="482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Features</a:t>
            </a:r>
          </a:p>
        </p:txBody>
      </p:sp>
      <p:sp>
        <p:nvSpPr>
          <p:cNvPr id="53" name="AutoShape 2">
            <a:extLst>
              <a:ext uri="{FF2B5EF4-FFF2-40B4-BE49-F238E27FC236}">
                <a16:creationId xmlns:a16="http://schemas.microsoft.com/office/drawing/2014/main" id="{F514230F-39D3-5540-468B-0F6053E4CC6C}"/>
              </a:ext>
            </a:extLst>
          </p:cNvPr>
          <p:cNvSpPr/>
          <p:nvPr/>
        </p:nvSpPr>
        <p:spPr>
          <a:xfrm>
            <a:off x="1281891" y="6311430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TextBox 9">
            <a:extLst>
              <a:ext uri="{FF2B5EF4-FFF2-40B4-BE49-F238E27FC236}">
                <a16:creationId xmlns:a16="http://schemas.microsoft.com/office/drawing/2014/main" id="{A78A6FB3-BE5E-6726-0F09-E58DECC62382}"/>
              </a:ext>
            </a:extLst>
          </p:cNvPr>
          <p:cNvSpPr txBox="1"/>
          <p:nvPr/>
        </p:nvSpPr>
        <p:spPr>
          <a:xfrm>
            <a:off x="1289386" y="5698732"/>
            <a:ext cx="4266968" cy="482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UI Preview</a:t>
            </a:r>
          </a:p>
        </p:txBody>
      </p:sp>
      <p:sp>
        <p:nvSpPr>
          <p:cNvPr id="57" name="AutoShape 2">
            <a:extLst>
              <a:ext uri="{FF2B5EF4-FFF2-40B4-BE49-F238E27FC236}">
                <a16:creationId xmlns:a16="http://schemas.microsoft.com/office/drawing/2014/main" id="{33C281D0-1665-83FE-0F8A-931270AB9AE3}"/>
              </a:ext>
            </a:extLst>
          </p:cNvPr>
          <p:cNvSpPr/>
          <p:nvPr/>
        </p:nvSpPr>
        <p:spPr>
          <a:xfrm>
            <a:off x="1281891" y="6972300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58" name="TextBox 9">
            <a:extLst>
              <a:ext uri="{FF2B5EF4-FFF2-40B4-BE49-F238E27FC236}">
                <a16:creationId xmlns:a16="http://schemas.microsoft.com/office/drawing/2014/main" id="{1F14BA65-D6F3-0A76-119C-C837F3E44C86}"/>
              </a:ext>
            </a:extLst>
          </p:cNvPr>
          <p:cNvSpPr txBox="1"/>
          <p:nvPr/>
        </p:nvSpPr>
        <p:spPr>
          <a:xfrm>
            <a:off x="1289386" y="6352447"/>
            <a:ext cx="4266968" cy="482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Code Structure</a:t>
            </a:r>
          </a:p>
        </p:txBody>
      </p:sp>
      <p:sp>
        <p:nvSpPr>
          <p:cNvPr id="59" name="AutoShape 2">
            <a:extLst>
              <a:ext uri="{FF2B5EF4-FFF2-40B4-BE49-F238E27FC236}">
                <a16:creationId xmlns:a16="http://schemas.microsoft.com/office/drawing/2014/main" id="{0CD5CE12-0063-912A-4223-D8087A13FF3F}"/>
              </a:ext>
            </a:extLst>
          </p:cNvPr>
          <p:cNvSpPr/>
          <p:nvPr/>
        </p:nvSpPr>
        <p:spPr>
          <a:xfrm>
            <a:off x="1281891" y="7658100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TextBox 9">
            <a:extLst>
              <a:ext uri="{FF2B5EF4-FFF2-40B4-BE49-F238E27FC236}">
                <a16:creationId xmlns:a16="http://schemas.microsoft.com/office/drawing/2014/main" id="{D286269C-5129-9B80-BB0D-30973C275BD0}"/>
              </a:ext>
            </a:extLst>
          </p:cNvPr>
          <p:cNvSpPr txBox="1"/>
          <p:nvPr/>
        </p:nvSpPr>
        <p:spPr>
          <a:xfrm>
            <a:off x="1321865" y="7066089"/>
            <a:ext cx="4266968" cy="482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Challenges</a:t>
            </a:r>
          </a:p>
        </p:txBody>
      </p:sp>
      <p:sp>
        <p:nvSpPr>
          <p:cNvPr id="61" name="AutoShape 2">
            <a:extLst>
              <a:ext uri="{FF2B5EF4-FFF2-40B4-BE49-F238E27FC236}">
                <a16:creationId xmlns:a16="http://schemas.microsoft.com/office/drawing/2014/main" id="{75812760-A009-CEC5-C6E3-3FD7A9CE5A7B}"/>
              </a:ext>
            </a:extLst>
          </p:cNvPr>
          <p:cNvSpPr/>
          <p:nvPr/>
        </p:nvSpPr>
        <p:spPr>
          <a:xfrm>
            <a:off x="1289386" y="8496300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TextBox 9">
            <a:extLst>
              <a:ext uri="{FF2B5EF4-FFF2-40B4-BE49-F238E27FC236}">
                <a16:creationId xmlns:a16="http://schemas.microsoft.com/office/drawing/2014/main" id="{5D9ADF72-5E84-6DF1-574C-3E8C9544B0CA}"/>
              </a:ext>
            </a:extLst>
          </p:cNvPr>
          <p:cNvSpPr txBox="1"/>
          <p:nvPr/>
        </p:nvSpPr>
        <p:spPr>
          <a:xfrm>
            <a:off x="1321865" y="7796876"/>
            <a:ext cx="4266968" cy="482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Feature Work</a:t>
            </a:r>
          </a:p>
        </p:txBody>
      </p:sp>
      <p:sp>
        <p:nvSpPr>
          <p:cNvPr id="63" name="AutoShape 2">
            <a:extLst>
              <a:ext uri="{FF2B5EF4-FFF2-40B4-BE49-F238E27FC236}">
                <a16:creationId xmlns:a16="http://schemas.microsoft.com/office/drawing/2014/main" id="{0D1DC0F5-BF0E-7FB9-7C95-EAAA873F7746}"/>
              </a:ext>
            </a:extLst>
          </p:cNvPr>
          <p:cNvSpPr/>
          <p:nvPr/>
        </p:nvSpPr>
        <p:spPr>
          <a:xfrm>
            <a:off x="1281891" y="9334500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4" name="TextBox 9">
            <a:extLst>
              <a:ext uri="{FF2B5EF4-FFF2-40B4-BE49-F238E27FC236}">
                <a16:creationId xmlns:a16="http://schemas.microsoft.com/office/drawing/2014/main" id="{AC8208BA-860A-428B-38AC-16AE80181FFF}"/>
              </a:ext>
            </a:extLst>
          </p:cNvPr>
          <p:cNvSpPr txBox="1"/>
          <p:nvPr/>
        </p:nvSpPr>
        <p:spPr>
          <a:xfrm>
            <a:off x="1295632" y="8627715"/>
            <a:ext cx="4266968" cy="482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Conclusion &amp; Q&amp;A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F841C2B0-4948-EC99-12ED-A1175DB56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87DE9CC-B86A-1940-BC73-E07C27903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7749" y="-27606"/>
            <a:ext cx="1140251" cy="114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98604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E6E23-F5AC-600F-AFD0-335659EB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1D14DC-0F72-1EAF-5BEE-3C5FA099A0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693583" y="-11224988"/>
            <a:ext cx="34111196" cy="27885902"/>
          </a:xfrm>
          <a:custGeom>
            <a:avLst/>
            <a:gdLst/>
            <a:ahLst/>
            <a:cxnLst/>
            <a:rect l="l" t="t" r="r" b="b"/>
            <a:pathLst>
              <a:path w="34111196" h="27885902">
                <a:moveTo>
                  <a:pt x="0" y="0"/>
                </a:moveTo>
                <a:lnTo>
                  <a:pt x="34111196" y="0"/>
                </a:lnTo>
                <a:lnTo>
                  <a:pt x="34111196" y="27885902"/>
                </a:lnTo>
                <a:lnTo>
                  <a:pt x="0" y="27885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AD625FB-C297-6B32-EB41-6E307F957EDB}"/>
              </a:ext>
            </a:extLst>
          </p:cNvPr>
          <p:cNvSpPr txBox="1"/>
          <p:nvPr/>
        </p:nvSpPr>
        <p:spPr>
          <a:xfrm>
            <a:off x="1444677" y="519886"/>
            <a:ext cx="16230600" cy="193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094"/>
              </a:lnSpc>
              <a:spcBef>
                <a:spcPct val="0"/>
              </a:spcBef>
            </a:pPr>
            <a:r>
              <a:rPr lang="en-US" sz="15094" b="1" u="none" strike="noStrike" spc="-633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introduction</a:t>
            </a:r>
          </a:p>
        </p:txBody>
      </p:sp>
      <p:grpSp>
        <p:nvGrpSpPr>
          <p:cNvPr id="7" name="Group 15">
            <a:extLst>
              <a:ext uri="{FF2B5EF4-FFF2-40B4-BE49-F238E27FC236}">
                <a16:creationId xmlns:a16="http://schemas.microsoft.com/office/drawing/2014/main" id="{1FA5B1DD-BBAB-D052-8C42-AD40E0D44419}"/>
              </a:ext>
            </a:extLst>
          </p:cNvPr>
          <p:cNvGrpSpPr/>
          <p:nvPr/>
        </p:nvGrpSpPr>
        <p:grpSpPr>
          <a:xfrm>
            <a:off x="5257800" y="2635485"/>
            <a:ext cx="6957372" cy="1142999"/>
            <a:chOff x="0" y="0"/>
            <a:chExt cx="918941" cy="677529"/>
          </a:xfrm>
        </p:grpSpPr>
        <p:sp>
          <p:nvSpPr>
            <p:cNvPr id="8" name="Freeform 16">
              <a:extLst>
                <a:ext uri="{FF2B5EF4-FFF2-40B4-BE49-F238E27FC236}">
                  <a16:creationId xmlns:a16="http://schemas.microsoft.com/office/drawing/2014/main" id="{BB82D41C-FDEC-2DDA-1A87-B3FD24DA1B3E}"/>
                </a:ext>
              </a:extLst>
            </p:cNvPr>
            <p:cNvSpPr/>
            <p:nvPr/>
          </p:nvSpPr>
          <p:spPr>
            <a:xfrm>
              <a:off x="0" y="0"/>
              <a:ext cx="918941" cy="677529"/>
            </a:xfrm>
            <a:custGeom>
              <a:avLst/>
              <a:gdLst/>
              <a:ahLst/>
              <a:cxnLst/>
              <a:rect l="l" t="t" r="r" b="b"/>
              <a:pathLst>
                <a:path w="918941" h="677529">
                  <a:moveTo>
                    <a:pt x="76183" y="0"/>
                  </a:moveTo>
                  <a:lnTo>
                    <a:pt x="842758" y="0"/>
                  </a:lnTo>
                  <a:cubicBezTo>
                    <a:pt x="884833" y="0"/>
                    <a:pt x="918941" y="34108"/>
                    <a:pt x="918941" y="76183"/>
                  </a:cubicBezTo>
                  <a:lnTo>
                    <a:pt x="918941" y="601346"/>
                  </a:lnTo>
                  <a:cubicBezTo>
                    <a:pt x="918941" y="643421"/>
                    <a:pt x="884833" y="677529"/>
                    <a:pt x="842758" y="677529"/>
                  </a:cubicBezTo>
                  <a:lnTo>
                    <a:pt x="76183" y="677529"/>
                  </a:lnTo>
                  <a:cubicBezTo>
                    <a:pt x="34108" y="677529"/>
                    <a:pt x="0" y="643421"/>
                    <a:pt x="0" y="601346"/>
                  </a:cubicBezTo>
                  <a:lnTo>
                    <a:pt x="0" y="76183"/>
                  </a:lnTo>
                  <a:cubicBezTo>
                    <a:pt x="0" y="34108"/>
                    <a:pt x="34108" y="0"/>
                    <a:pt x="761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17">
              <a:extLst>
                <a:ext uri="{FF2B5EF4-FFF2-40B4-BE49-F238E27FC236}">
                  <a16:creationId xmlns:a16="http://schemas.microsoft.com/office/drawing/2014/main" id="{EF9C7A45-7C60-580F-D4CF-FF043CA379AC}"/>
                </a:ext>
              </a:extLst>
            </p:cNvPr>
            <p:cNvSpPr txBox="1"/>
            <p:nvPr/>
          </p:nvSpPr>
          <p:spPr>
            <a:xfrm>
              <a:off x="0" y="-85725"/>
              <a:ext cx="918941" cy="7632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3" name="TextBox 18">
            <a:extLst>
              <a:ext uri="{FF2B5EF4-FFF2-40B4-BE49-F238E27FC236}">
                <a16:creationId xmlns:a16="http://schemas.microsoft.com/office/drawing/2014/main" id="{92F07792-98D0-D06F-2E0C-0F38E731CCCF}"/>
              </a:ext>
            </a:extLst>
          </p:cNvPr>
          <p:cNvSpPr txBox="1"/>
          <p:nvPr/>
        </p:nvSpPr>
        <p:spPr>
          <a:xfrm>
            <a:off x="5345586" y="2876948"/>
            <a:ext cx="6957372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16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What is a supplement store?</a:t>
            </a: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5A21D364-CAD1-ADB5-2955-31D042E9921D}"/>
              </a:ext>
            </a:extLst>
          </p:cNvPr>
          <p:cNvSpPr txBox="1"/>
          <p:nvPr/>
        </p:nvSpPr>
        <p:spPr>
          <a:xfrm>
            <a:off x="4038600" y="3923103"/>
            <a:ext cx="9753600" cy="4777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1" indent="-3429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u="none" strike="noStrike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A react-based e-commerce web application</a:t>
            </a:r>
          </a:p>
          <a:p>
            <a:pPr marL="3429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Kollektif"/>
              </a:rPr>
              <a:t>Allows browsing supplements, viewing details, adding items to cart</a:t>
            </a:r>
            <a:r>
              <a:rPr lang="ar-EG" sz="3200" dirty="0">
                <a:solidFill>
                  <a:srgbClr val="FFFFFF"/>
                </a:solidFill>
                <a:latin typeface="Kollektif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Kollektif"/>
              </a:rPr>
              <a:t>and book sessions with coaches</a:t>
            </a:r>
          </a:p>
          <a:p>
            <a:pPr marL="3429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Kollektif"/>
              </a:rPr>
              <a:t>Provides a clean, fast, user-friendly shopping experience</a:t>
            </a:r>
            <a:endParaRPr lang="ar-EG" sz="3200" dirty="0">
              <a:solidFill>
                <a:srgbClr val="FFFFFF"/>
              </a:solidFill>
              <a:latin typeface="Kollektif"/>
            </a:endParaRPr>
          </a:p>
          <a:p>
            <a:pPr marL="342900" lvl="1" indent="-3429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ar-EG" sz="3200" dirty="0">
              <a:solidFill>
                <a:srgbClr val="FFFFFF"/>
              </a:solidFill>
              <a:latin typeface="Kollektif"/>
            </a:endParaRPr>
          </a:p>
          <a:p>
            <a:pPr marL="0" lvl="1" algn="l">
              <a:lnSpc>
                <a:spcPts val="2940"/>
              </a:lnSpc>
              <a:spcBef>
                <a:spcPct val="0"/>
              </a:spcBef>
            </a:pPr>
            <a:endParaRPr lang="en-US" sz="2100" u="none" strike="noStrike" dirty="0">
              <a:solidFill>
                <a:srgbClr val="FFFFFF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0" lvl="1" indent="0" algn="l">
              <a:lnSpc>
                <a:spcPts val="2940"/>
              </a:lnSpc>
              <a:spcBef>
                <a:spcPct val="0"/>
              </a:spcBef>
            </a:pPr>
            <a:endParaRPr lang="en-US" sz="2100" u="none" strike="noStrike" dirty="0">
              <a:solidFill>
                <a:srgbClr val="FFFFFF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BB1487-D16F-0C88-D655-E0223C13B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1477" y="0"/>
            <a:ext cx="1140251" cy="11469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BB1E337-A4A8-B89A-ACDC-8695F7EA9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859896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CA786-A19C-BC83-58BD-05C5682A0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00F0035-F440-D53D-C8B9-90390AA0DB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-8039951" y="-2113930"/>
            <a:ext cx="22707876" cy="18563688"/>
          </a:xfrm>
          <a:custGeom>
            <a:avLst/>
            <a:gdLst/>
            <a:ahLst/>
            <a:cxnLst/>
            <a:rect l="l" t="t" r="r" b="b"/>
            <a:pathLst>
              <a:path w="22707876" h="18563688">
                <a:moveTo>
                  <a:pt x="22707875" y="0"/>
                </a:moveTo>
                <a:lnTo>
                  <a:pt x="0" y="0"/>
                </a:lnTo>
                <a:lnTo>
                  <a:pt x="0" y="18563688"/>
                </a:lnTo>
                <a:lnTo>
                  <a:pt x="22707875" y="18563688"/>
                </a:lnTo>
                <a:lnTo>
                  <a:pt x="2270787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E3A34C9-BB72-0564-4794-0D7A1AB09138}"/>
              </a:ext>
            </a:extLst>
          </p:cNvPr>
          <p:cNvSpPr txBox="1"/>
          <p:nvPr/>
        </p:nvSpPr>
        <p:spPr>
          <a:xfrm>
            <a:off x="261119" y="8039100"/>
            <a:ext cx="6105736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u="none" strike="noStrike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Problem Statement</a:t>
            </a:r>
          </a:p>
        </p:txBody>
      </p:sp>
      <p:grpSp>
        <p:nvGrpSpPr>
          <p:cNvPr id="34" name="Group 3">
            <a:extLst>
              <a:ext uri="{FF2B5EF4-FFF2-40B4-BE49-F238E27FC236}">
                <a16:creationId xmlns:a16="http://schemas.microsoft.com/office/drawing/2014/main" id="{C95382E1-C46D-E5C7-19E4-E9926B8F847E}"/>
              </a:ext>
            </a:extLst>
          </p:cNvPr>
          <p:cNvGrpSpPr/>
          <p:nvPr/>
        </p:nvGrpSpPr>
        <p:grpSpPr>
          <a:xfrm>
            <a:off x="4163598" y="-55451"/>
            <a:ext cx="12268204" cy="9017880"/>
            <a:chOff x="-30753" y="-85725"/>
            <a:chExt cx="1409409" cy="1598938"/>
          </a:xfrm>
        </p:grpSpPr>
        <p:sp>
          <p:nvSpPr>
            <p:cNvPr id="35" name="Freeform 4">
              <a:extLst>
                <a:ext uri="{FF2B5EF4-FFF2-40B4-BE49-F238E27FC236}">
                  <a16:creationId xmlns:a16="http://schemas.microsoft.com/office/drawing/2014/main" id="{1CBBDBF3-1A52-3BB5-A4BD-7D3AF95FF8BD}"/>
                </a:ext>
              </a:extLst>
            </p:cNvPr>
            <p:cNvSpPr/>
            <p:nvPr/>
          </p:nvSpPr>
          <p:spPr>
            <a:xfrm>
              <a:off x="-30753" y="54043"/>
              <a:ext cx="1378656" cy="1459170"/>
            </a:xfrm>
            <a:custGeom>
              <a:avLst/>
              <a:gdLst/>
              <a:ahLst/>
              <a:cxnLst/>
              <a:rect l="l" t="t" r="r" b="b"/>
              <a:pathLst>
                <a:path w="1378656" h="1459170">
                  <a:moveTo>
                    <a:pt x="50780" y="0"/>
                  </a:moveTo>
                  <a:lnTo>
                    <a:pt x="1327876" y="0"/>
                  </a:lnTo>
                  <a:cubicBezTo>
                    <a:pt x="1355921" y="0"/>
                    <a:pt x="1378656" y="22735"/>
                    <a:pt x="1378656" y="50780"/>
                  </a:cubicBezTo>
                  <a:lnTo>
                    <a:pt x="1378656" y="1408391"/>
                  </a:lnTo>
                  <a:cubicBezTo>
                    <a:pt x="1378656" y="1436436"/>
                    <a:pt x="1355921" y="1459170"/>
                    <a:pt x="1327876" y="1459170"/>
                  </a:cubicBezTo>
                  <a:lnTo>
                    <a:pt x="50780" y="1459170"/>
                  </a:lnTo>
                  <a:cubicBezTo>
                    <a:pt x="22735" y="1459170"/>
                    <a:pt x="0" y="1436436"/>
                    <a:pt x="0" y="1408391"/>
                  </a:cubicBezTo>
                  <a:lnTo>
                    <a:pt x="0" y="50780"/>
                  </a:lnTo>
                  <a:cubicBezTo>
                    <a:pt x="0" y="22735"/>
                    <a:pt x="22735" y="0"/>
                    <a:pt x="5078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TextBox 5">
              <a:extLst>
                <a:ext uri="{FF2B5EF4-FFF2-40B4-BE49-F238E27FC236}">
                  <a16:creationId xmlns:a16="http://schemas.microsoft.com/office/drawing/2014/main" id="{8B4D22A5-1CB0-D056-2B62-D97AAE035C51}"/>
                </a:ext>
              </a:extLst>
            </p:cNvPr>
            <p:cNvSpPr txBox="1"/>
            <p:nvPr/>
          </p:nvSpPr>
          <p:spPr>
            <a:xfrm>
              <a:off x="0" y="-85725"/>
              <a:ext cx="1378656" cy="1544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7" name="TextBox 9">
            <a:extLst>
              <a:ext uri="{FF2B5EF4-FFF2-40B4-BE49-F238E27FC236}">
                <a16:creationId xmlns:a16="http://schemas.microsoft.com/office/drawing/2014/main" id="{6D464DBE-C4F8-5B9B-D5A1-F378CA7B2AFE}"/>
              </a:ext>
            </a:extLst>
          </p:cNvPr>
          <p:cNvSpPr txBox="1"/>
          <p:nvPr/>
        </p:nvSpPr>
        <p:spPr>
          <a:xfrm>
            <a:off x="4403806" y="965487"/>
            <a:ext cx="11678029" cy="8947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Hard to find simple , organized supplement store.</a:t>
            </a:r>
          </a:p>
          <a:p>
            <a:pPr marL="57150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FFFFFF"/>
                </a:solidFill>
                <a:latin typeface="Kollektif"/>
              </a:rPr>
              <a:t>Users struggle comparing products and understanding details.</a:t>
            </a:r>
          </a:p>
          <a:p>
            <a:pPr marL="57150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FFFFFF"/>
                </a:solidFill>
                <a:latin typeface="Kollektif"/>
              </a:rPr>
              <a:t>Many online stores are cluttered or confusing.</a:t>
            </a:r>
          </a:p>
          <a:p>
            <a:pPr marL="57150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FFFFFF"/>
                </a:solidFill>
                <a:latin typeface="Kollektif"/>
              </a:rPr>
              <a:t>Need for a clean and organized shopping experience.</a:t>
            </a:r>
          </a:p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44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endParaRPr lang="en-US" sz="4400" u="none" strike="noStrike" dirty="0">
              <a:solidFill>
                <a:srgbClr val="FFFFFF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pic>
        <p:nvPicPr>
          <p:cNvPr id="41" name="Picture 40" descr="A red triangle with a white exclamation mark&#10;&#10;AI-generated content may be incorrect.">
            <a:extLst>
              <a:ext uri="{FF2B5EF4-FFF2-40B4-BE49-F238E27FC236}">
                <a16:creationId xmlns:a16="http://schemas.microsoft.com/office/drawing/2014/main" id="{30E4C704-3C42-7AB3-EBF7-F5F1B5C5CC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0" y="-249027"/>
            <a:ext cx="1807564" cy="180756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2A03CB7-E676-5FE8-DAE7-C744634BE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1477" y="0"/>
            <a:ext cx="1140251" cy="114694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C17E352-D8E3-DF3C-D031-C5A4E37082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553711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ACE817-A257-1DBB-F3A1-F2AA463D6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3CDEE4-C549-1A6B-D38B-70D25BD23E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-8039951" y="-2113930"/>
            <a:ext cx="22707876" cy="18563688"/>
          </a:xfrm>
          <a:custGeom>
            <a:avLst/>
            <a:gdLst/>
            <a:ahLst/>
            <a:cxnLst/>
            <a:rect l="l" t="t" r="r" b="b"/>
            <a:pathLst>
              <a:path w="22707876" h="18563688">
                <a:moveTo>
                  <a:pt x="22707875" y="0"/>
                </a:moveTo>
                <a:lnTo>
                  <a:pt x="0" y="0"/>
                </a:lnTo>
                <a:lnTo>
                  <a:pt x="0" y="18563688"/>
                </a:lnTo>
                <a:lnTo>
                  <a:pt x="22707875" y="18563688"/>
                </a:lnTo>
                <a:lnTo>
                  <a:pt x="22707875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D159414-00DC-97D3-85BE-4EA39A52DDCF}"/>
              </a:ext>
            </a:extLst>
          </p:cNvPr>
          <p:cNvSpPr txBox="1"/>
          <p:nvPr/>
        </p:nvSpPr>
        <p:spPr>
          <a:xfrm>
            <a:off x="261119" y="8271757"/>
            <a:ext cx="6105736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u="none" strike="noStrike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Proposed</a:t>
            </a:r>
          </a:p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Solution</a:t>
            </a:r>
            <a:endParaRPr lang="en-US" sz="7200" u="none" strike="noStrike" dirty="0">
              <a:solidFill>
                <a:srgbClr val="FFFFFF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grpSp>
        <p:nvGrpSpPr>
          <p:cNvPr id="34" name="Group 3">
            <a:extLst>
              <a:ext uri="{FF2B5EF4-FFF2-40B4-BE49-F238E27FC236}">
                <a16:creationId xmlns:a16="http://schemas.microsoft.com/office/drawing/2014/main" id="{44BC9536-FCD9-0E1E-58B6-F794E0BD1913}"/>
              </a:ext>
            </a:extLst>
          </p:cNvPr>
          <p:cNvGrpSpPr/>
          <p:nvPr/>
        </p:nvGrpSpPr>
        <p:grpSpPr>
          <a:xfrm>
            <a:off x="4163598" y="-55451"/>
            <a:ext cx="12268204" cy="9017880"/>
            <a:chOff x="-30753" y="-85725"/>
            <a:chExt cx="1409409" cy="1598938"/>
          </a:xfrm>
        </p:grpSpPr>
        <p:sp>
          <p:nvSpPr>
            <p:cNvPr id="35" name="Freeform 4">
              <a:extLst>
                <a:ext uri="{FF2B5EF4-FFF2-40B4-BE49-F238E27FC236}">
                  <a16:creationId xmlns:a16="http://schemas.microsoft.com/office/drawing/2014/main" id="{BAC4133E-C58B-E04E-1525-53D096486D86}"/>
                </a:ext>
              </a:extLst>
            </p:cNvPr>
            <p:cNvSpPr/>
            <p:nvPr/>
          </p:nvSpPr>
          <p:spPr>
            <a:xfrm>
              <a:off x="-30753" y="54043"/>
              <a:ext cx="1378656" cy="1459170"/>
            </a:xfrm>
            <a:custGeom>
              <a:avLst/>
              <a:gdLst/>
              <a:ahLst/>
              <a:cxnLst/>
              <a:rect l="l" t="t" r="r" b="b"/>
              <a:pathLst>
                <a:path w="1378656" h="1459170">
                  <a:moveTo>
                    <a:pt x="50780" y="0"/>
                  </a:moveTo>
                  <a:lnTo>
                    <a:pt x="1327876" y="0"/>
                  </a:lnTo>
                  <a:cubicBezTo>
                    <a:pt x="1355921" y="0"/>
                    <a:pt x="1378656" y="22735"/>
                    <a:pt x="1378656" y="50780"/>
                  </a:cubicBezTo>
                  <a:lnTo>
                    <a:pt x="1378656" y="1408391"/>
                  </a:lnTo>
                  <a:cubicBezTo>
                    <a:pt x="1378656" y="1436436"/>
                    <a:pt x="1355921" y="1459170"/>
                    <a:pt x="1327876" y="1459170"/>
                  </a:cubicBezTo>
                  <a:lnTo>
                    <a:pt x="50780" y="1459170"/>
                  </a:lnTo>
                  <a:cubicBezTo>
                    <a:pt x="22735" y="1459170"/>
                    <a:pt x="0" y="1436436"/>
                    <a:pt x="0" y="1408391"/>
                  </a:cubicBezTo>
                  <a:lnTo>
                    <a:pt x="0" y="50780"/>
                  </a:lnTo>
                  <a:cubicBezTo>
                    <a:pt x="0" y="22735"/>
                    <a:pt x="22735" y="0"/>
                    <a:pt x="5078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TextBox 5">
              <a:extLst>
                <a:ext uri="{FF2B5EF4-FFF2-40B4-BE49-F238E27FC236}">
                  <a16:creationId xmlns:a16="http://schemas.microsoft.com/office/drawing/2014/main" id="{80D0DF55-F008-E0CE-A0CA-E1389DD49DDB}"/>
                </a:ext>
              </a:extLst>
            </p:cNvPr>
            <p:cNvSpPr txBox="1"/>
            <p:nvPr/>
          </p:nvSpPr>
          <p:spPr>
            <a:xfrm>
              <a:off x="0" y="-85725"/>
              <a:ext cx="1378656" cy="1544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7" name="TextBox 9">
            <a:extLst>
              <a:ext uri="{FF2B5EF4-FFF2-40B4-BE49-F238E27FC236}">
                <a16:creationId xmlns:a16="http://schemas.microsoft.com/office/drawing/2014/main" id="{3DAE7F35-8A4B-DDCA-2DA0-7EFB607C02EB}"/>
              </a:ext>
            </a:extLst>
          </p:cNvPr>
          <p:cNvSpPr txBox="1"/>
          <p:nvPr/>
        </p:nvSpPr>
        <p:spPr>
          <a:xfrm>
            <a:off x="4664635" y="1175890"/>
            <a:ext cx="11678029" cy="8270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FFFFFF"/>
                </a:solidFill>
                <a:latin typeface="Kollektif"/>
              </a:rPr>
              <a:t>A clean and minimal E-commerce UI</a:t>
            </a:r>
          </a:p>
          <a:p>
            <a:pPr marL="57150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FFFFFF"/>
                </a:solidFill>
                <a:latin typeface="Kollektif"/>
              </a:rPr>
              <a:t>Organized product browsing</a:t>
            </a:r>
          </a:p>
          <a:p>
            <a:pPr marL="57150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FFFFFF"/>
                </a:solidFill>
                <a:latin typeface="Kollektif"/>
              </a:rPr>
              <a:t>Clear product details + ingredients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FFFFFF"/>
                </a:solidFill>
                <a:latin typeface="Kollektif"/>
              </a:rPr>
              <a:t>Add-to-cart and checkout flow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FFFFFF"/>
                </a:solidFill>
                <a:latin typeface="Kollektif"/>
              </a:rPr>
              <a:t>Login / Register page for user access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FFFFFF"/>
                </a:solidFill>
                <a:latin typeface="Kollektif"/>
              </a:rPr>
              <a:t>Responsive layout for all screens</a:t>
            </a:r>
          </a:p>
          <a:p>
            <a:endParaRPr lang="en-US" sz="4400" dirty="0">
              <a:solidFill>
                <a:srgbClr val="FFFFFF"/>
              </a:solidFill>
              <a:latin typeface="Kollektif"/>
            </a:endParaRPr>
          </a:p>
          <a:p>
            <a:endParaRPr lang="en-US" sz="4400" dirty="0">
              <a:solidFill>
                <a:srgbClr val="FFFFFF"/>
              </a:solidFill>
              <a:latin typeface="Kollektif"/>
            </a:endParaRPr>
          </a:p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44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 </a:t>
            </a:r>
            <a:endParaRPr lang="en-US" sz="4400" u="none" strike="noStrike" dirty="0">
              <a:solidFill>
                <a:srgbClr val="FFFFFF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pic>
        <p:nvPicPr>
          <p:cNvPr id="4" name="Picture 3" descr="A light bulb with a check mark&#10;&#10;AI-generated content may be incorrect.">
            <a:extLst>
              <a:ext uri="{FF2B5EF4-FFF2-40B4-BE49-F238E27FC236}">
                <a16:creationId xmlns:a16="http://schemas.microsoft.com/office/drawing/2014/main" id="{C784512B-7E98-1F1F-C66B-E994817554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049" y="-39878"/>
            <a:ext cx="1862745" cy="1862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D38CA8-B97C-6BAC-8102-85DA4B3FD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1477" y="0"/>
            <a:ext cx="1140251" cy="1146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445D62-02BA-6868-B990-CFCDB72816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58007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38AADD-0E9C-4334-A8E6-D803CE6A8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90BAAFF-BAE1-7E2D-BCBC-C4C4B59790A0}"/>
              </a:ext>
            </a:extLst>
          </p:cNvPr>
          <p:cNvSpPr>
            <a:spLocks/>
          </p:cNvSpPr>
          <p:nvPr/>
        </p:nvSpPr>
        <p:spPr>
          <a:xfrm>
            <a:off x="-15697200" y="-7124700"/>
            <a:ext cx="32800490" cy="26814401"/>
          </a:xfrm>
          <a:custGeom>
            <a:avLst/>
            <a:gdLst/>
            <a:ahLst/>
            <a:cxnLst/>
            <a:rect l="l" t="t" r="r" b="b"/>
            <a:pathLst>
              <a:path w="32800490" h="26814401">
                <a:moveTo>
                  <a:pt x="0" y="0"/>
                </a:moveTo>
                <a:lnTo>
                  <a:pt x="32800490" y="0"/>
                </a:lnTo>
                <a:lnTo>
                  <a:pt x="32800490" y="26814400"/>
                </a:lnTo>
                <a:lnTo>
                  <a:pt x="0" y="2681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6FF17C4-4209-8B69-2843-E39B00E84E89}"/>
              </a:ext>
            </a:extLst>
          </p:cNvPr>
          <p:cNvSpPr txBox="1"/>
          <p:nvPr/>
        </p:nvSpPr>
        <p:spPr>
          <a:xfrm>
            <a:off x="491080" y="-302199"/>
            <a:ext cx="17297400" cy="16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5094"/>
              </a:lnSpc>
              <a:spcBef>
                <a:spcPct val="0"/>
              </a:spcBef>
            </a:pPr>
            <a:r>
              <a:rPr lang="en-US" sz="9600" b="1" spc="-633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System Architecture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8976AAD-C5D5-1483-4C85-219592A615A3}"/>
              </a:ext>
            </a:extLst>
          </p:cNvPr>
          <p:cNvSpPr/>
          <p:nvPr/>
        </p:nvSpPr>
        <p:spPr>
          <a:xfrm>
            <a:off x="14401800" y="8256695"/>
            <a:ext cx="762000" cy="6858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50E92FF-55A9-2A67-5AB6-0A67CF7D7F12}"/>
              </a:ext>
            </a:extLst>
          </p:cNvPr>
          <p:cNvSpPr/>
          <p:nvPr/>
        </p:nvSpPr>
        <p:spPr>
          <a:xfrm>
            <a:off x="7042875" y="1482348"/>
            <a:ext cx="4193809" cy="2590800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User (Client/Browser)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Enters the website</a:t>
            </a:r>
          </a:p>
          <a:p>
            <a:pPr algn="ctr"/>
            <a:r>
              <a:rPr lang="en-US" sz="2000" dirty="0"/>
              <a:t>Interacts with the UI</a:t>
            </a:r>
          </a:p>
          <a:p>
            <a:pPr algn="ctr"/>
            <a:r>
              <a:rPr lang="en-US" sz="2000" dirty="0"/>
              <a:t> Navigates between pages</a:t>
            </a:r>
          </a:p>
          <a:p>
            <a:pPr algn="ctr"/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3FF16B2-3F86-F260-5E82-7E5AF2CAC1A1}"/>
              </a:ext>
            </a:extLst>
          </p:cNvPr>
          <p:cNvCxnSpPr>
            <a:cxnSpLocks/>
          </p:cNvCxnSpPr>
          <p:nvPr/>
        </p:nvCxnSpPr>
        <p:spPr>
          <a:xfrm>
            <a:off x="9139782" y="4392550"/>
            <a:ext cx="0" cy="425869"/>
          </a:xfrm>
          <a:prstGeom prst="straightConnector1">
            <a:avLst/>
          </a:prstGeom>
          <a:ln w="31750" cap="sq">
            <a:solidFill>
              <a:schemeClr val="tx2">
                <a:lumMod val="75000"/>
              </a:schemeClr>
            </a:solidFill>
            <a:headEnd type="non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A2B5087-BCD1-EFD3-776A-71788BE782C4}"/>
              </a:ext>
            </a:extLst>
          </p:cNvPr>
          <p:cNvSpPr/>
          <p:nvPr/>
        </p:nvSpPr>
        <p:spPr>
          <a:xfrm>
            <a:off x="6914990" y="4605484"/>
            <a:ext cx="4449582" cy="3410434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React Frontend App</a:t>
            </a:r>
          </a:p>
          <a:p>
            <a:pPr algn="ctr"/>
            <a:endParaRPr lang="en-US" sz="2000" dirty="0"/>
          </a:p>
          <a:p>
            <a:pPr algn="ctr">
              <a:spcAft>
                <a:spcPts val="600"/>
              </a:spcAft>
            </a:pPr>
            <a:r>
              <a:rPr lang="en-US" sz="2000" dirty="0"/>
              <a:t>Components &amp; Pages</a:t>
            </a:r>
          </a:p>
          <a:p>
            <a:pPr algn="ctr">
              <a:spcAft>
                <a:spcPts val="600"/>
              </a:spcAft>
            </a:pPr>
            <a:r>
              <a:rPr lang="en-US" sz="2000" dirty="0"/>
              <a:t>React Router navigation</a:t>
            </a:r>
          </a:p>
          <a:p>
            <a:pPr algn="ctr">
              <a:spcAft>
                <a:spcPts val="600"/>
              </a:spcAft>
            </a:pPr>
            <a:r>
              <a:rPr lang="en-US" sz="2000" dirty="0"/>
              <a:t>State Management </a:t>
            </a:r>
          </a:p>
          <a:p>
            <a:pPr algn="ctr">
              <a:spcAft>
                <a:spcPts val="600"/>
              </a:spcAft>
            </a:pPr>
            <a:r>
              <a:rPr lang="en-US" sz="2000" dirty="0"/>
              <a:t>   (</a:t>
            </a:r>
            <a:r>
              <a:rPr lang="en-US" sz="2000" dirty="0" err="1"/>
              <a:t>useState</a:t>
            </a:r>
            <a:r>
              <a:rPr lang="en-US" sz="2000" dirty="0"/>
              <a:t>, </a:t>
            </a:r>
            <a:r>
              <a:rPr lang="en-US" sz="2000" dirty="0" err="1"/>
              <a:t>useEffect</a:t>
            </a:r>
            <a:r>
              <a:rPr lang="en-US" sz="2000" dirty="0"/>
              <a:t>)</a:t>
            </a:r>
          </a:p>
          <a:p>
            <a:pPr algn="ctr">
              <a:spcAft>
                <a:spcPts val="600"/>
              </a:spcAft>
            </a:pPr>
            <a:r>
              <a:rPr lang="en-US" sz="2000" dirty="0"/>
              <a:t>Rendering product data</a:t>
            </a:r>
          </a:p>
          <a:p>
            <a:pPr algn="ctr">
              <a:spcAft>
                <a:spcPts val="600"/>
              </a:spcAft>
            </a:pPr>
            <a:r>
              <a:rPr lang="en-US" sz="2000" dirty="0"/>
              <a:t>Handling Add to Cart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F87FDFF-12D7-BC1D-B584-455C5BFD395B}"/>
              </a:ext>
            </a:extLst>
          </p:cNvPr>
          <p:cNvSpPr/>
          <p:nvPr/>
        </p:nvSpPr>
        <p:spPr>
          <a:xfrm>
            <a:off x="7653879" y="8520309"/>
            <a:ext cx="2971800" cy="1524000"/>
          </a:xfrm>
          <a:prstGeom prst="roundRect">
            <a:avLst/>
          </a:prstGeom>
          <a:solidFill>
            <a:srgbClr val="0B2447"/>
          </a:solidFill>
          <a:ln>
            <a:solidFill>
              <a:srgbClr val="0B24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Data Source (API)</a:t>
            </a:r>
          </a:p>
          <a:p>
            <a:pPr algn="ctr"/>
            <a:r>
              <a:rPr lang="en-US" sz="2000" dirty="0"/>
              <a:t>Data Layer (API / JSON File)</a:t>
            </a:r>
          </a:p>
          <a:p>
            <a:pPr algn="ctr"/>
            <a:endParaRPr lang="en-US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12C17AD-7274-B440-5D51-BB8748C8ED88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9139780" y="4073148"/>
            <a:ext cx="8439" cy="481657"/>
          </a:xfrm>
          <a:prstGeom prst="straightConnector1">
            <a:avLst/>
          </a:prstGeom>
          <a:ln w="698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17AC5A3-7C3E-8986-F479-1F02206943F5}"/>
              </a:ext>
            </a:extLst>
          </p:cNvPr>
          <p:cNvCxnSpPr>
            <a:cxnSpLocks/>
          </p:cNvCxnSpPr>
          <p:nvPr/>
        </p:nvCxnSpPr>
        <p:spPr>
          <a:xfrm>
            <a:off x="9131340" y="8038652"/>
            <a:ext cx="8439" cy="481657"/>
          </a:xfrm>
          <a:prstGeom prst="straightConnector1">
            <a:avLst/>
          </a:prstGeom>
          <a:ln w="698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95A8490-EFA3-B67C-1FB8-6E470D309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1477" y="-38100"/>
            <a:ext cx="1140251" cy="11469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EB0B8F-CABC-7A22-39ED-DCF69CE23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291038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8D80A-ECF6-888F-7F99-6508D3268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439EC6-0C6C-EF2C-889D-28C5B13DA4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3944600" y="-4229100"/>
            <a:ext cx="24031566" cy="20516950"/>
          </a:xfrm>
          <a:custGeom>
            <a:avLst/>
            <a:gdLst/>
            <a:ahLst/>
            <a:cxnLst/>
            <a:rect l="l" t="t" r="r" b="b"/>
            <a:pathLst>
              <a:path w="24031566" h="20516950">
                <a:moveTo>
                  <a:pt x="0" y="0"/>
                </a:moveTo>
                <a:lnTo>
                  <a:pt x="24031567" y="0"/>
                </a:lnTo>
                <a:lnTo>
                  <a:pt x="24031567" y="20516950"/>
                </a:lnTo>
                <a:lnTo>
                  <a:pt x="0" y="20516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42BB6F02-4BCC-529E-CA11-AB1EC1B2039A}"/>
              </a:ext>
            </a:extLst>
          </p:cNvPr>
          <p:cNvSpPr txBox="1"/>
          <p:nvPr/>
        </p:nvSpPr>
        <p:spPr>
          <a:xfrm>
            <a:off x="754621" y="-114300"/>
            <a:ext cx="16230600" cy="16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094"/>
              </a:lnSpc>
              <a:spcBef>
                <a:spcPct val="0"/>
              </a:spcBef>
            </a:pPr>
            <a:r>
              <a:rPr lang="en-US" sz="9600" b="1" spc="-633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Tech Stack</a:t>
            </a:r>
            <a:endParaRPr lang="en-US" sz="9600" b="1" u="none" strike="noStrike" spc="-633" dirty="0">
              <a:solidFill>
                <a:srgbClr val="FFFFFF"/>
              </a:solidFill>
              <a:latin typeface="Kollektif Bold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79045C-4467-BA21-A02C-C4508739E38D}"/>
              </a:ext>
            </a:extLst>
          </p:cNvPr>
          <p:cNvSpPr txBox="1"/>
          <p:nvPr/>
        </p:nvSpPr>
        <p:spPr>
          <a:xfrm>
            <a:off x="4140300" y="1943100"/>
            <a:ext cx="9459243" cy="7423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3600" u="none" strike="noStrike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We used in our project</a:t>
            </a:r>
          </a:p>
          <a:p>
            <a:pPr marL="0" lvl="1" indent="0" algn="l">
              <a:lnSpc>
                <a:spcPts val="2940"/>
              </a:lnSpc>
              <a:spcBef>
                <a:spcPct val="0"/>
              </a:spcBef>
            </a:pPr>
            <a:endParaRPr lang="en-US" sz="2100" u="none" strike="noStrike" dirty="0">
              <a:solidFill>
                <a:srgbClr val="FFFFFF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0" lvl="1" indent="0" algn="ctr">
              <a:lnSpc>
                <a:spcPts val="2940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React JS</a:t>
            </a:r>
          </a:p>
          <a:p>
            <a:pPr marL="0" lvl="1" indent="0" algn="ctr">
              <a:lnSpc>
                <a:spcPts val="294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Used to build the user interface with reusable components and React Hooks</a:t>
            </a:r>
          </a:p>
          <a:p>
            <a:pPr marL="0" lvl="1" indent="0" algn="ctr">
              <a:lnSpc>
                <a:spcPts val="294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</a:endParaRP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  React Router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Handles navigation between pages (Home, Products, Details, Cart) without reloading.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</a:rPr>
              <a:t>Axios / Fetch API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Used to fetch data from the JSON / Fake API quickly and efficiently.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endParaRPr lang="en-US" sz="28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</a:rPr>
              <a:t>JavaScript (ES6+)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Responsible for application logic, state handling, functions, and events.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endParaRPr lang="en-US" sz="28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</a:rPr>
              <a:t>CSS / Bootstrap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Used for styling, responsive design, and creating a clean, organized UI.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endParaRPr lang="en-US" sz="28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</a:rPr>
              <a:t>JSON / Fake API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Main data source for products, product details, and coaches' information.</a:t>
            </a:r>
            <a:endParaRPr lang="en-US" sz="24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pic>
        <p:nvPicPr>
          <p:cNvPr id="12" name="Picture 11" descr="A blue and green atom symbol&#10;&#10;AI-generated content may be incorrect.">
            <a:extLst>
              <a:ext uri="{FF2B5EF4-FFF2-40B4-BE49-F238E27FC236}">
                <a16:creationId xmlns:a16="http://schemas.microsoft.com/office/drawing/2014/main" id="{E760EB26-EC4D-E5CC-4DBA-2EF5273B3A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3009900"/>
            <a:ext cx="990600" cy="990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4630738-5E4D-8813-3C1B-65BA1ECAF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6552" y="4760153"/>
            <a:ext cx="1112689" cy="111268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C952F11-B425-FE99-E6CC-823F89A39F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63796" y="6768403"/>
            <a:ext cx="838200" cy="8382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4CC4ECF-7FB3-9F0A-D481-AEA8DFBC1F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0" y="8191500"/>
            <a:ext cx="1066800" cy="1066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985124-73D7-62A9-6011-DA0BF59E6E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81477" y="0"/>
            <a:ext cx="1140251" cy="11469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410F51-83C1-44D6-5D86-284C17328C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31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C2F190-A210-AE80-D418-7E672CD12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EDA512-8EE5-2F5A-3312-3C4A1861E6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3944600" y="-4229100"/>
            <a:ext cx="24031566" cy="20516950"/>
          </a:xfrm>
          <a:custGeom>
            <a:avLst/>
            <a:gdLst/>
            <a:ahLst/>
            <a:cxnLst/>
            <a:rect l="l" t="t" r="r" b="b"/>
            <a:pathLst>
              <a:path w="24031566" h="20516950">
                <a:moveTo>
                  <a:pt x="0" y="0"/>
                </a:moveTo>
                <a:lnTo>
                  <a:pt x="24031567" y="0"/>
                </a:lnTo>
                <a:lnTo>
                  <a:pt x="24031567" y="20516950"/>
                </a:lnTo>
                <a:lnTo>
                  <a:pt x="0" y="20516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A8D4214A-473F-A70B-BF21-BAB83D654EF2}"/>
              </a:ext>
            </a:extLst>
          </p:cNvPr>
          <p:cNvSpPr txBox="1"/>
          <p:nvPr/>
        </p:nvSpPr>
        <p:spPr>
          <a:xfrm>
            <a:off x="754621" y="-114300"/>
            <a:ext cx="16230600" cy="16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094"/>
              </a:lnSpc>
              <a:spcBef>
                <a:spcPct val="0"/>
              </a:spcBef>
            </a:pPr>
            <a:r>
              <a:rPr lang="en-US" sz="9600" b="1" spc="-633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Features</a:t>
            </a:r>
            <a:endParaRPr lang="en-US" sz="9600" b="1" u="none" strike="noStrike" spc="-633" dirty="0">
              <a:solidFill>
                <a:srgbClr val="FFFFFF"/>
              </a:solidFill>
              <a:latin typeface="Kollektif Bold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9A95A4-C74A-700C-24CD-09F8EEB3020D}"/>
              </a:ext>
            </a:extLst>
          </p:cNvPr>
          <p:cNvSpPr txBox="1"/>
          <p:nvPr/>
        </p:nvSpPr>
        <p:spPr>
          <a:xfrm>
            <a:off x="4076850" y="1755818"/>
            <a:ext cx="9459243" cy="85311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4400" dirty="0">
                <a:solidFill>
                  <a:schemeClr val="bg1"/>
                </a:solidFill>
              </a:rPr>
              <a:t>Main Features of Our Project</a:t>
            </a:r>
            <a:endParaRPr lang="ar-EG" sz="4400" dirty="0">
              <a:solidFill>
                <a:schemeClr val="bg1"/>
              </a:solidFill>
            </a:endParaRPr>
          </a:p>
          <a:p>
            <a:pPr algn="ctr">
              <a:lnSpc>
                <a:spcPts val="2940"/>
              </a:lnSpc>
              <a:spcBef>
                <a:spcPct val="0"/>
              </a:spcBef>
            </a:pPr>
            <a:endParaRPr lang="en-US" sz="44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0" lvl="1" indent="0" algn="ctr">
              <a:lnSpc>
                <a:spcPts val="2940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Product Browsing</a:t>
            </a:r>
          </a:p>
          <a:p>
            <a:pPr marL="0" lvl="1" indent="0" algn="ctr">
              <a:lnSpc>
                <a:spcPts val="294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Users can explore a clean and organized list of supplements.</a:t>
            </a:r>
          </a:p>
          <a:p>
            <a:pPr marL="0" lvl="1" indent="0" algn="ctr">
              <a:lnSpc>
                <a:spcPts val="294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  <a:latin typeface="Kollektif"/>
            </a:endParaRP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</a:rPr>
              <a:t>Product Details Page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Displays full information: image, description, ingredients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bg1"/>
                </a:solidFill>
              </a:rPr>
              <a:t>and price.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endParaRPr lang="en-US" sz="2400" dirty="0">
              <a:solidFill>
                <a:schemeClr val="bg1"/>
              </a:solidFill>
              <a:sym typeface="Kollektif"/>
            </a:endParaRP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</a:rPr>
              <a:t>Add to Cart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Users can add any product to their shopping cart easily.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endParaRPr lang="en-US" sz="28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</a:rPr>
              <a:t>Cart Management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Update quantity, remove items, and view the total price instantly.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endParaRPr lang="en-US" sz="28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</a:rPr>
              <a:t>Login/Register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Basic authentication UI for user access (frontend-only).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endParaRPr lang="en-US" sz="28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</a:rPr>
              <a:t>Coach Sessions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Users can browse available coaches and book training sessions.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endParaRPr lang="en-US" sz="24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</a:rPr>
              <a:t>Responsive UI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Fully optimized layout for desktop, tablet, and mobile screens</a:t>
            </a:r>
          </a:p>
          <a:p>
            <a:pPr marL="0" lvl="1" algn="ctr">
              <a:lnSpc>
                <a:spcPts val="2940"/>
              </a:lnSpc>
              <a:spcBef>
                <a:spcPct val="0"/>
              </a:spcBef>
            </a:pPr>
            <a:endParaRPr lang="en-US" sz="24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9E38F5-F0BF-0A46-EC5C-97AB542AB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1477" y="0"/>
            <a:ext cx="1140251" cy="11469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B7BB9A-431A-021A-9BD3-F507CAA71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271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0DB8B-9642-91A2-28DD-299CC13D7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5EA5728-3E1C-6E28-725F-EAA5362EC3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154861" y="1061818"/>
            <a:ext cx="15779408" cy="13471670"/>
          </a:xfrm>
          <a:custGeom>
            <a:avLst/>
            <a:gdLst/>
            <a:ahLst/>
            <a:cxnLst/>
            <a:rect l="l" t="t" r="r" b="b"/>
            <a:pathLst>
              <a:path w="15779408" h="13471670">
                <a:moveTo>
                  <a:pt x="0" y="0"/>
                </a:moveTo>
                <a:lnTo>
                  <a:pt x="15779408" y="0"/>
                </a:lnTo>
                <a:lnTo>
                  <a:pt x="15779408" y="13471670"/>
                </a:lnTo>
                <a:lnTo>
                  <a:pt x="0" y="13471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>
            <a:softEdge rad="12700"/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AD0AF40-842B-3594-0FB4-DF1AF60EAF0E}"/>
              </a:ext>
            </a:extLst>
          </p:cNvPr>
          <p:cNvSpPr txBox="1"/>
          <p:nvPr/>
        </p:nvSpPr>
        <p:spPr>
          <a:xfrm>
            <a:off x="6858000" y="137863"/>
            <a:ext cx="811530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u="none" strike="noStrike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UI-Home Page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EF098F6-4758-77A3-DB1C-61549B81FF67}"/>
              </a:ext>
            </a:extLst>
          </p:cNvPr>
          <p:cNvSpPr txBox="1"/>
          <p:nvPr/>
        </p:nvSpPr>
        <p:spPr>
          <a:xfrm>
            <a:off x="236281" y="4229402"/>
            <a:ext cx="8362950" cy="3315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Hero Section</a:t>
            </a:r>
            <a:r>
              <a:rPr lang="en-US" sz="21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Clean header with a welcoming banner</a:t>
            </a:r>
          </a:p>
          <a:p>
            <a:pPr marL="342900" indent="-3429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Featured Products</a:t>
            </a:r>
            <a:r>
              <a:rPr lang="en-US" sz="20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Shows top or selected items from the store</a:t>
            </a:r>
          </a:p>
          <a:p>
            <a:pPr marL="342900" indent="-3429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Categories Section</a:t>
            </a:r>
            <a:r>
              <a:rPr lang="en-US" sz="2000" dirty="0">
                <a:solidFill>
                  <a:schemeClr val="bg1"/>
                </a:solidFill>
              </a:rPr>
              <a:t>: Helps users to browse different types of supplements</a:t>
            </a:r>
          </a:p>
          <a:p>
            <a:pPr marL="342900" indent="-3429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Simple Navigation</a:t>
            </a:r>
            <a:r>
              <a:rPr lang="en-US" sz="2000" dirty="0">
                <a:solidFill>
                  <a:schemeClr val="bg1"/>
                </a:solidFill>
              </a:rPr>
              <a:t>: Easy access to Products, Cart, and Coaches</a:t>
            </a:r>
          </a:p>
          <a:p>
            <a:pPr>
              <a:lnSpc>
                <a:spcPts val="2940"/>
              </a:lnSpc>
              <a:spcBef>
                <a:spcPct val="0"/>
              </a:spcBef>
            </a:pPr>
            <a:endParaRPr lang="en-US" sz="21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5EDF62-1CDF-9009-7E8D-4902B715A8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8763000" y="1866900"/>
            <a:ext cx="9312453" cy="6553199"/>
          </a:xfrm>
          <a:prstGeom prst="roundRect">
            <a:avLst>
              <a:gd name="adj" fmla="val 4707"/>
            </a:avLst>
          </a:prstGeom>
          <a:ln w="6350">
            <a:solidFill>
              <a:schemeClr val="bg1"/>
            </a:solidFill>
          </a:ln>
          <a:effectLst>
            <a:outerShdw blurRad="190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462FFC-A877-7DC2-FD2C-408C1E60D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1477" y="0"/>
            <a:ext cx="1140251" cy="1146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523769-5090-571C-6630-8802C1238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440835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F834F7-DC76-6292-AFDE-D236FA2D6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85F01C-294F-CB3A-0AE7-9909A28995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154861" y="1061818"/>
            <a:ext cx="15779408" cy="13471670"/>
          </a:xfrm>
          <a:custGeom>
            <a:avLst/>
            <a:gdLst/>
            <a:ahLst/>
            <a:cxnLst/>
            <a:rect l="l" t="t" r="r" b="b"/>
            <a:pathLst>
              <a:path w="15779408" h="13471670">
                <a:moveTo>
                  <a:pt x="0" y="0"/>
                </a:moveTo>
                <a:lnTo>
                  <a:pt x="15779408" y="0"/>
                </a:lnTo>
                <a:lnTo>
                  <a:pt x="15779408" y="13471670"/>
                </a:lnTo>
                <a:lnTo>
                  <a:pt x="0" y="13471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>
            <a:softEdge rad="12700"/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C125837-4817-0363-C279-239E5E65961E}"/>
              </a:ext>
            </a:extLst>
          </p:cNvPr>
          <p:cNvSpPr txBox="1"/>
          <p:nvPr/>
        </p:nvSpPr>
        <p:spPr>
          <a:xfrm>
            <a:off x="4677868" y="138176"/>
            <a:ext cx="811530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u="none" strike="noStrike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UI-</a:t>
            </a:r>
            <a:r>
              <a:rPr lang="en-US" sz="72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Store</a:t>
            </a:r>
            <a:r>
              <a:rPr lang="en-US" sz="7200" u="none" strike="noStrike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 Page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3EEDC5A-C4CC-6620-2AE4-EAC7035F1A06}"/>
              </a:ext>
            </a:extLst>
          </p:cNvPr>
          <p:cNvSpPr txBox="1"/>
          <p:nvPr/>
        </p:nvSpPr>
        <p:spPr>
          <a:xfrm>
            <a:off x="953124" y="2171700"/>
            <a:ext cx="8362950" cy="6290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Product Cards:</a:t>
            </a:r>
            <a:r>
              <a:rPr lang="en-US" sz="2800" dirty="0">
                <a:solidFill>
                  <a:schemeClr val="bg1"/>
                </a:solidFill>
              </a:rPr>
              <a:t> Display product image, name, and price clearly</a:t>
            </a:r>
            <a:endParaRPr lang="ar-EG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Add to Cart Button:</a:t>
            </a:r>
            <a:r>
              <a:rPr lang="en-US" sz="2800" dirty="0">
                <a:solidFill>
                  <a:schemeClr val="bg1"/>
                </a:solidFill>
              </a:rPr>
              <a:t> Allows users to add products to their shopping cart instantly.</a:t>
            </a:r>
            <a:endParaRPr lang="ar-EG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Search Bar: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Helps users quickly find specific products</a:t>
            </a:r>
          </a:p>
          <a:p>
            <a:pPr marL="342900" indent="-3429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Simple Navigation: Easy access to Products, Cart, and Coaches</a:t>
            </a:r>
            <a:endParaRPr lang="ar-EG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ar-EG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Filter Options:</a:t>
            </a:r>
            <a:r>
              <a:rPr lang="en-US" sz="2800" dirty="0">
                <a:solidFill>
                  <a:schemeClr val="bg1"/>
                </a:solidFill>
              </a:rPr>
              <a:t> Users can sort products by category, price, or popularity.</a:t>
            </a:r>
            <a:endParaRPr lang="ar-EG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ar-EG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Responsive Layout:</a:t>
            </a:r>
            <a:r>
              <a:rPr lang="en-US" sz="2800" dirty="0">
                <a:solidFill>
                  <a:schemeClr val="bg1"/>
                </a:solidFill>
              </a:rPr>
              <a:t> Page adapts to different screen sizes for smooth browsing</a:t>
            </a:r>
          </a:p>
          <a:p>
            <a:pPr>
              <a:lnSpc>
                <a:spcPts val="2940"/>
              </a:lnSpc>
              <a:spcBef>
                <a:spcPct val="0"/>
              </a:spcBef>
            </a:pPr>
            <a:endParaRPr lang="en-US" sz="21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EB3E07-A45F-338A-BCE0-F3F7A9116E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" r="1881"/>
          <a:stretch/>
        </p:blipFill>
        <p:spPr>
          <a:xfrm>
            <a:off x="10896600" y="1025671"/>
            <a:ext cx="6449519" cy="4538545"/>
          </a:xfrm>
          <a:prstGeom prst="roundRect">
            <a:avLst>
              <a:gd name="adj" fmla="val 3335"/>
            </a:avLst>
          </a:prstGeom>
          <a:ln w="6350">
            <a:solidFill>
              <a:schemeClr val="bg1"/>
            </a:solidFill>
          </a:ln>
          <a:effectLst>
            <a:outerShdw blurRad="190500" sx="102000" sy="102000" algn="ctr" rotWithShape="0">
              <a:prstClr val="black">
                <a:alpha val="40000"/>
              </a:prstClr>
            </a:outerShdw>
            <a:softEdge rad="127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3609DD-6DFC-50DA-FE7B-7AE79F3272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9" r="9089"/>
          <a:stretch/>
        </p:blipFill>
        <p:spPr>
          <a:xfrm>
            <a:off x="10917837" y="5869620"/>
            <a:ext cx="6449518" cy="4179232"/>
          </a:xfrm>
          <a:prstGeom prst="roundRect">
            <a:avLst>
              <a:gd name="adj" fmla="val 3335"/>
            </a:avLst>
          </a:prstGeom>
          <a:ln w="6350">
            <a:solidFill>
              <a:schemeClr val="bg1"/>
            </a:solidFill>
          </a:ln>
          <a:effectLst>
            <a:outerShdw blurRad="190500" sx="102000" sy="102000" algn="ctr" rotWithShape="0">
              <a:prstClr val="black">
                <a:alpha val="40000"/>
              </a:prstClr>
            </a:outerShdw>
            <a:softEdge rad="127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0D6000-37D9-3E6F-E582-2B63A74ED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81477" y="0"/>
            <a:ext cx="1140251" cy="1146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75ABF8-E1AA-CDB7-06D1-AE8E9472BD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985823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AAEBC3-6547-BC9A-5EB7-1F7EF0D30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C80FEF9-8332-C150-F4DD-C5A4293B3E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154861" y="1061818"/>
            <a:ext cx="15779408" cy="13471670"/>
          </a:xfrm>
          <a:custGeom>
            <a:avLst/>
            <a:gdLst/>
            <a:ahLst/>
            <a:cxnLst/>
            <a:rect l="l" t="t" r="r" b="b"/>
            <a:pathLst>
              <a:path w="15779408" h="13471670">
                <a:moveTo>
                  <a:pt x="0" y="0"/>
                </a:moveTo>
                <a:lnTo>
                  <a:pt x="15779408" y="0"/>
                </a:lnTo>
                <a:lnTo>
                  <a:pt x="15779408" y="13471670"/>
                </a:lnTo>
                <a:lnTo>
                  <a:pt x="0" y="13471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>
            <a:softEdge rad="12700"/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C2E456A-A926-E1BE-02D3-708ED40333FC}"/>
              </a:ext>
            </a:extLst>
          </p:cNvPr>
          <p:cNvSpPr txBox="1"/>
          <p:nvPr/>
        </p:nvSpPr>
        <p:spPr>
          <a:xfrm>
            <a:off x="4953000" y="138488"/>
            <a:ext cx="811530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u="none" strike="noStrike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UI-</a:t>
            </a:r>
            <a:r>
              <a:rPr lang="en-US" sz="72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Coaches Page</a:t>
            </a:r>
            <a:endParaRPr lang="en-US" sz="7200" u="none" strike="noStrike" dirty="0">
              <a:solidFill>
                <a:srgbClr val="FFFFFF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6E07CC7-6444-579F-1D0C-434223763D5B}"/>
              </a:ext>
            </a:extLst>
          </p:cNvPr>
          <p:cNvSpPr txBox="1"/>
          <p:nvPr/>
        </p:nvSpPr>
        <p:spPr>
          <a:xfrm>
            <a:off x="361325" y="2991164"/>
            <a:ext cx="8362950" cy="5578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Coach Cards:</a:t>
            </a:r>
            <a:r>
              <a:rPr lang="en-US" sz="2800" dirty="0">
                <a:solidFill>
                  <a:schemeClr val="bg1"/>
                </a:solidFill>
              </a:rPr>
              <a:t> Display coach photo, name, and specialization</a:t>
            </a: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View Profile Button:</a:t>
            </a:r>
            <a:r>
              <a:rPr lang="en-US" sz="2800" dirty="0">
                <a:solidFill>
                  <a:schemeClr val="bg1"/>
                </a:solidFill>
              </a:rPr>
              <a:t> Allows users to see detailed coach information</a:t>
            </a: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Book Session Button:</a:t>
            </a:r>
            <a:r>
              <a:rPr lang="en-US" sz="2800" dirty="0">
                <a:solidFill>
                  <a:schemeClr val="bg1"/>
                </a:solidFill>
              </a:rPr>
              <a:t> Lets users schedule a session directly</a:t>
            </a:r>
          </a:p>
          <a:p>
            <a:pPr>
              <a:lnSpc>
                <a:spcPts val="2940"/>
              </a:lnSpc>
              <a:spcBef>
                <a:spcPct val="0"/>
              </a:spcBef>
            </a:pPr>
            <a:endParaRPr lang="en-US" sz="2400" b="1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Responsive Design:</a:t>
            </a:r>
            <a:r>
              <a:rPr lang="en-US" sz="2800" dirty="0">
                <a:solidFill>
                  <a:schemeClr val="bg1"/>
                </a:solidFill>
              </a:rPr>
              <a:t> Works smoothly on desktop and mobile</a:t>
            </a: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8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Search and Filter Options:</a:t>
            </a:r>
            <a:r>
              <a:rPr lang="en-US" sz="2800" dirty="0">
                <a:solidFill>
                  <a:schemeClr val="bg1"/>
                </a:solidFill>
              </a:rPr>
              <a:t> Users can search and sort equipment by category or price.</a:t>
            </a:r>
            <a:endParaRPr lang="en-US" sz="2800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8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BF7E81-6BE9-5D0A-A71C-3EF2D2197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" b="394"/>
          <a:stretch/>
        </p:blipFill>
        <p:spPr>
          <a:xfrm>
            <a:off x="8724275" y="2247900"/>
            <a:ext cx="9312453" cy="6553199"/>
          </a:xfrm>
          <a:prstGeom prst="roundRect">
            <a:avLst>
              <a:gd name="adj" fmla="val 3335"/>
            </a:avLst>
          </a:prstGeom>
          <a:ln w="6350">
            <a:solidFill>
              <a:schemeClr val="bg1"/>
            </a:solidFill>
          </a:ln>
          <a:effectLst>
            <a:outerShdw blurRad="190500" sx="102000" sy="102000" algn="ctr" rotWithShape="0">
              <a:prstClr val="black">
                <a:alpha val="40000"/>
              </a:prstClr>
            </a:outerShdw>
            <a:softEdge rad="127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A25A27-ADE7-28DB-AF2B-63B83DBE4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1477" y="0"/>
            <a:ext cx="1140251" cy="1146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46F617-3198-3983-AD58-B93EBE4F2E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12207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4230C0-B8CC-0FFB-82F3-842891208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B53B878-CF6F-E56A-A1BA-A3A8C26060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154861" y="1061818"/>
            <a:ext cx="15779408" cy="13471670"/>
          </a:xfrm>
          <a:custGeom>
            <a:avLst/>
            <a:gdLst/>
            <a:ahLst/>
            <a:cxnLst/>
            <a:rect l="l" t="t" r="r" b="b"/>
            <a:pathLst>
              <a:path w="15779408" h="13471670">
                <a:moveTo>
                  <a:pt x="0" y="0"/>
                </a:moveTo>
                <a:lnTo>
                  <a:pt x="15779408" y="0"/>
                </a:lnTo>
                <a:lnTo>
                  <a:pt x="15779408" y="13471670"/>
                </a:lnTo>
                <a:lnTo>
                  <a:pt x="0" y="13471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>
            <a:softEdge rad="12700"/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5141B40-6EB3-CFDB-493C-9E5727F25005}"/>
              </a:ext>
            </a:extLst>
          </p:cNvPr>
          <p:cNvSpPr txBox="1"/>
          <p:nvPr/>
        </p:nvSpPr>
        <p:spPr>
          <a:xfrm>
            <a:off x="4952999" y="138488"/>
            <a:ext cx="9312453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u="none" strike="noStrike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UI-</a:t>
            </a:r>
            <a:r>
              <a:rPr lang="en-US" sz="7200" dirty="0" err="1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Equipments</a:t>
            </a:r>
            <a:r>
              <a:rPr lang="en-US" sz="72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 Page</a:t>
            </a:r>
            <a:endParaRPr lang="en-US" sz="7200" u="none" strike="noStrike" dirty="0">
              <a:solidFill>
                <a:srgbClr val="FFFFFF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D4A8FFB-04DB-1C0E-9EF6-EF7F6BE4A83C}"/>
              </a:ext>
            </a:extLst>
          </p:cNvPr>
          <p:cNvSpPr txBox="1"/>
          <p:nvPr/>
        </p:nvSpPr>
        <p:spPr>
          <a:xfrm>
            <a:off x="328668" y="2923341"/>
            <a:ext cx="8362950" cy="5556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Equipment Cards:</a:t>
            </a:r>
            <a:r>
              <a:rPr lang="en-US" sz="2800" dirty="0">
                <a:solidFill>
                  <a:schemeClr val="bg1"/>
                </a:solidFill>
              </a:rPr>
              <a:t> Show product image, name, and price clearly</a:t>
            </a: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Add to Cart Button:</a:t>
            </a:r>
            <a:r>
              <a:rPr lang="en-US" sz="2800" dirty="0">
                <a:solidFill>
                  <a:schemeClr val="bg1"/>
                </a:solidFill>
              </a:rPr>
              <a:t> Lets users add items to their shopping cart instantly</a:t>
            </a: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View Details Button:</a:t>
            </a:r>
            <a:r>
              <a:rPr lang="en-US" sz="2800" dirty="0">
                <a:solidFill>
                  <a:schemeClr val="bg1"/>
                </a:solidFill>
              </a:rPr>
              <a:t> Provides more information about the equipment</a:t>
            </a: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Responsive Layout:</a:t>
            </a:r>
            <a:r>
              <a:rPr lang="en-US" sz="2800" dirty="0">
                <a:solidFill>
                  <a:schemeClr val="bg1"/>
                </a:solidFill>
              </a:rPr>
              <a:t> Page adjusts well on both desktop and mobile screens.</a:t>
            </a: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Search and Filter Options:</a:t>
            </a:r>
            <a:r>
              <a:rPr lang="en-US" sz="2800" dirty="0">
                <a:solidFill>
                  <a:schemeClr val="bg1"/>
                </a:solidFill>
              </a:rPr>
              <a:t> Users can search and sort equipment by category or price.</a:t>
            </a:r>
            <a:endParaRPr lang="en-US" sz="2800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b="1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F8D7B0-6EA0-3A6F-B539-9265DD898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" r="883"/>
          <a:stretch/>
        </p:blipFill>
        <p:spPr>
          <a:xfrm>
            <a:off x="8806916" y="2095500"/>
            <a:ext cx="9312453" cy="6553199"/>
          </a:xfrm>
          <a:prstGeom prst="roundRect">
            <a:avLst>
              <a:gd name="adj" fmla="val 3335"/>
            </a:avLst>
          </a:prstGeom>
          <a:ln w="6350">
            <a:solidFill>
              <a:schemeClr val="bg1"/>
            </a:solidFill>
          </a:ln>
          <a:effectLst>
            <a:outerShdw blurRad="190500" sx="102000" sy="102000" algn="ctr" rotWithShape="0">
              <a:prstClr val="black">
                <a:alpha val="40000"/>
              </a:prstClr>
            </a:outerShdw>
            <a:softEdge rad="127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AE3510-0638-672B-ABAD-F3618F47E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1477" y="0"/>
            <a:ext cx="1140251" cy="1146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DB719E-4EB0-78B6-80F6-EC8A80B9F3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86997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FAA71B-BFD4-C578-CBAC-91426429C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C59D403-30C3-DD96-3B5B-B15F077092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154861" y="1061818"/>
            <a:ext cx="15779408" cy="13471670"/>
          </a:xfrm>
          <a:custGeom>
            <a:avLst/>
            <a:gdLst/>
            <a:ahLst/>
            <a:cxnLst/>
            <a:rect l="l" t="t" r="r" b="b"/>
            <a:pathLst>
              <a:path w="15779408" h="13471670">
                <a:moveTo>
                  <a:pt x="0" y="0"/>
                </a:moveTo>
                <a:lnTo>
                  <a:pt x="15779408" y="0"/>
                </a:lnTo>
                <a:lnTo>
                  <a:pt x="15779408" y="13471670"/>
                </a:lnTo>
                <a:lnTo>
                  <a:pt x="0" y="13471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>
            <a:softEdge rad="12700"/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5253B87-B31B-94C2-115A-68961CC86DA6}"/>
              </a:ext>
            </a:extLst>
          </p:cNvPr>
          <p:cNvSpPr txBox="1"/>
          <p:nvPr/>
        </p:nvSpPr>
        <p:spPr>
          <a:xfrm>
            <a:off x="4953000" y="495300"/>
            <a:ext cx="876300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u="none" strike="noStrike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UI-</a:t>
            </a:r>
            <a:r>
              <a:rPr lang="en-US" sz="7200" dirty="0" err="1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AboutUs</a:t>
            </a:r>
            <a:r>
              <a:rPr lang="en-US" sz="72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 Page</a:t>
            </a:r>
            <a:endParaRPr lang="en-US" sz="7200" u="none" strike="noStrike" dirty="0">
              <a:solidFill>
                <a:srgbClr val="FFFFFF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1D39A57-DE1D-530F-7B42-B67D8C61B465}"/>
              </a:ext>
            </a:extLst>
          </p:cNvPr>
          <p:cNvSpPr txBox="1"/>
          <p:nvPr/>
        </p:nvSpPr>
        <p:spPr>
          <a:xfrm>
            <a:off x="328668" y="2923341"/>
            <a:ext cx="8362950" cy="3718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Our Story:</a:t>
            </a:r>
            <a:r>
              <a:rPr lang="en-US" sz="2800" dirty="0">
                <a:solidFill>
                  <a:schemeClr val="bg1"/>
                </a:solidFill>
              </a:rPr>
              <a:t> Briefly explain the idea behind the project and why we created it</a:t>
            </a:r>
            <a:endParaRPr lang="ar-EG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Our Team:</a:t>
            </a:r>
            <a:r>
              <a:rPr lang="en-US" sz="2800" dirty="0">
                <a:solidFill>
                  <a:schemeClr val="bg1"/>
                </a:solidFill>
              </a:rPr>
              <a:t> Introduce the team members and their roles.</a:t>
            </a:r>
            <a:endParaRPr lang="ar-EG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Mission &amp; Vision:</a:t>
            </a:r>
            <a:r>
              <a:rPr lang="en-US" sz="2800" dirty="0">
                <a:solidFill>
                  <a:schemeClr val="bg1"/>
                </a:solidFill>
              </a:rPr>
              <a:t> State the main goal and vision of the project.</a:t>
            </a:r>
            <a:endParaRPr lang="ar-EG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User Focus:</a:t>
            </a:r>
            <a:r>
              <a:rPr lang="en-US" sz="2800" dirty="0">
                <a:solidFill>
                  <a:schemeClr val="bg1"/>
                </a:solidFill>
              </a:rPr>
              <a:t> Explain how the project helps the users.</a:t>
            </a:r>
            <a:endParaRPr lang="en-US" sz="2800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13C984-C22C-98CE-91B4-E08EDF97EB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5" r="4925"/>
          <a:stretch/>
        </p:blipFill>
        <p:spPr>
          <a:xfrm>
            <a:off x="8806916" y="2095500"/>
            <a:ext cx="9312453" cy="6553199"/>
          </a:xfrm>
          <a:prstGeom prst="roundRect">
            <a:avLst>
              <a:gd name="adj" fmla="val 3335"/>
            </a:avLst>
          </a:prstGeom>
          <a:ln w="6350">
            <a:solidFill>
              <a:schemeClr val="bg1"/>
            </a:solidFill>
          </a:ln>
          <a:effectLst>
            <a:outerShdw blurRad="190500" sx="102000" sy="102000" algn="ctr" rotWithShape="0">
              <a:prstClr val="black">
                <a:alpha val="40000"/>
              </a:prstClr>
            </a:outerShdw>
            <a:softEdge rad="127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EA9071-B65C-C6C1-3E58-485D96DCB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1477" y="0"/>
            <a:ext cx="1140251" cy="1146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D653FB-8D10-ED08-4CA6-CD21BE11D8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843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16B193-2494-B21E-BBAE-5CC053998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C6A0D7-1879-ABCC-BC32-6C796239C8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154861" y="1061818"/>
            <a:ext cx="15779408" cy="13471670"/>
          </a:xfrm>
          <a:custGeom>
            <a:avLst/>
            <a:gdLst/>
            <a:ahLst/>
            <a:cxnLst/>
            <a:rect l="l" t="t" r="r" b="b"/>
            <a:pathLst>
              <a:path w="15779408" h="13471670">
                <a:moveTo>
                  <a:pt x="0" y="0"/>
                </a:moveTo>
                <a:lnTo>
                  <a:pt x="15779408" y="0"/>
                </a:lnTo>
                <a:lnTo>
                  <a:pt x="15779408" y="13471670"/>
                </a:lnTo>
                <a:lnTo>
                  <a:pt x="0" y="13471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>
            <a:softEdge rad="12700"/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5D56364-F117-FE6E-8965-A533C6DB0604}"/>
              </a:ext>
            </a:extLst>
          </p:cNvPr>
          <p:cNvSpPr txBox="1"/>
          <p:nvPr/>
        </p:nvSpPr>
        <p:spPr>
          <a:xfrm>
            <a:off x="4953000" y="495300"/>
            <a:ext cx="876300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u="none" strike="noStrike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UI-</a:t>
            </a:r>
            <a:r>
              <a:rPr lang="en-US" sz="72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Register Page</a:t>
            </a:r>
            <a:endParaRPr lang="en-US" sz="7200" u="none" strike="noStrike" dirty="0">
              <a:solidFill>
                <a:srgbClr val="FFFFFF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A9AEACD-F576-D381-97FA-9F602F7DEF1A}"/>
              </a:ext>
            </a:extLst>
          </p:cNvPr>
          <p:cNvSpPr txBox="1"/>
          <p:nvPr/>
        </p:nvSpPr>
        <p:spPr>
          <a:xfrm>
            <a:off x="328668" y="2923341"/>
            <a:ext cx="8362950" cy="3718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Input Fields:</a:t>
            </a:r>
            <a:r>
              <a:rPr lang="en-US" sz="2800" dirty="0">
                <a:solidFill>
                  <a:schemeClr val="bg1"/>
                </a:solidFill>
              </a:rPr>
              <a:t> Users enter Name, Email, Password, and Confirm Password.</a:t>
            </a: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Register Button:</a:t>
            </a:r>
            <a:r>
              <a:rPr lang="en-US" sz="2800" dirty="0">
                <a:solidFill>
                  <a:schemeClr val="bg1"/>
                </a:solidFill>
              </a:rPr>
              <a:t> Creates a new account for the user.</a:t>
            </a: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Validation:</a:t>
            </a:r>
            <a:r>
              <a:rPr lang="en-US" sz="2800" dirty="0">
                <a:solidFill>
                  <a:schemeClr val="bg1"/>
                </a:solidFill>
              </a:rPr>
              <a:t> Ensures correct email format and matching passwords.</a:t>
            </a: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Responsive Layout:</a:t>
            </a:r>
            <a:r>
              <a:rPr lang="en-US" sz="2800" dirty="0">
                <a:solidFill>
                  <a:schemeClr val="bg1"/>
                </a:solidFill>
              </a:rPr>
              <a:t> Page adjusts well for all screen sizes.</a:t>
            </a:r>
            <a:endParaRPr lang="en-US" sz="2800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C44ABB-A8DB-4164-0D01-57A7ECE651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10" b="8110"/>
          <a:stretch/>
        </p:blipFill>
        <p:spPr>
          <a:xfrm>
            <a:off x="8806916" y="2095500"/>
            <a:ext cx="9312453" cy="6553199"/>
          </a:xfrm>
          <a:prstGeom prst="roundRect">
            <a:avLst>
              <a:gd name="adj" fmla="val 3335"/>
            </a:avLst>
          </a:prstGeom>
          <a:ln w="6350">
            <a:solidFill>
              <a:schemeClr val="bg1"/>
            </a:solidFill>
          </a:ln>
          <a:effectLst>
            <a:outerShdw blurRad="190500" sx="102000" sy="102000" algn="ctr" rotWithShape="0">
              <a:prstClr val="black">
                <a:alpha val="40000"/>
              </a:prstClr>
            </a:outerShdw>
            <a:softEdge rad="127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A1A09F-8909-A09F-47F4-98B05E7DA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1477" y="0"/>
            <a:ext cx="1140251" cy="1146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D89550-AE25-DB37-7DC3-36897D3F88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839781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00DBD9-63C8-0788-7D6C-6CA5ACC82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260FF4C-CAAB-3945-CA5E-75A15EDE2A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154861" y="1061818"/>
            <a:ext cx="15779408" cy="13471670"/>
          </a:xfrm>
          <a:custGeom>
            <a:avLst/>
            <a:gdLst/>
            <a:ahLst/>
            <a:cxnLst/>
            <a:rect l="l" t="t" r="r" b="b"/>
            <a:pathLst>
              <a:path w="15779408" h="13471670">
                <a:moveTo>
                  <a:pt x="0" y="0"/>
                </a:moveTo>
                <a:lnTo>
                  <a:pt x="15779408" y="0"/>
                </a:lnTo>
                <a:lnTo>
                  <a:pt x="15779408" y="13471670"/>
                </a:lnTo>
                <a:lnTo>
                  <a:pt x="0" y="13471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>
            <a:softEdge rad="12700"/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D770313-396E-3F51-B887-14A0D6F246CC}"/>
              </a:ext>
            </a:extLst>
          </p:cNvPr>
          <p:cNvSpPr txBox="1"/>
          <p:nvPr/>
        </p:nvSpPr>
        <p:spPr>
          <a:xfrm>
            <a:off x="4953000" y="495300"/>
            <a:ext cx="876300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u="none" strike="noStrike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UI-</a:t>
            </a:r>
            <a:r>
              <a:rPr lang="en-US" sz="7200" dirty="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Login Page</a:t>
            </a:r>
            <a:endParaRPr lang="en-US" sz="7200" u="none" strike="noStrike" dirty="0">
              <a:solidFill>
                <a:srgbClr val="FFFFFF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75978CE-A261-6E1A-2DE2-C385FB5A45FC}"/>
              </a:ext>
            </a:extLst>
          </p:cNvPr>
          <p:cNvSpPr txBox="1"/>
          <p:nvPr/>
        </p:nvSpPr>
        <p:spPr>
          <a:xfrm>
            <a:off x="328668" y="2923341"/>
            <a:ext cx="8362950" cy="3718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Email &amp; Password Fields:</a:t>
            </a:r>
            <a:r>
              <a:rPr lang="en-US" sz="2800" dirty="0">
                <a:solidFill>
                  <a:schemeClr val="bg1"/>
                </a:solidFill>
              </a:rPr>
              <a:t> Users enter their credentials to access the account.</a:t>
            </a: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Login Button:</a:t>
            </a:r>
            <a:r>
              <a:rPr lang="en-US" sz="2800" dirty="0">
                <a:solidFill>
                  <a:schemeClr val="bg1"/>
                </a:solidFill>
              </a:rPr>
              <a:t> Submits the form and logs the user in.</a:t>
            </a: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Validation:</a:t>
            </a:r>
            <a:r>
              <a:rPr lang="en-US" sz="2800" dirty="0">
                <a:solidFill>
                  <a:schemeClr val="bg1"/>
                </a:solidFill>
              </a:rPr>
              <a:t> Ensures correct email and matching password.</a:t>
            </a:r>
          </a:p>
          <a:p>
            <a:pPr>
              <a:lnSpc>
                <a:spcPts val="2940"/>
              </a:lnSpc>
              <a:spcBef>
                <a:spcPct val="0"/>
              </a:spcBef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Responsive Design:</a:t>
            </a:r>
            <a:r>
              <a:rPr lang="en-US" sz="2800" dirty="0">
                <a:solidFill>
                  <a:schemeClr val="bg1"/>
                </a:solidFill>
              </a:rPr>
              <a:t> Works well on both desktop and mobile screens.</a:t>
            </a:r>
            <a:endParaRPr lang="en-US" sz="2800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268FE7-230E-F819-D92A-EBE5F47D2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9" r="1909"/>
          <a:stretch/>
        </p:blipFill>
        <p:spPr>
          <a:xfrm>
            <a:off x="8806916" y="2095500"/>
            <a:ext cx="9312453" cy="6553199"/>
          </a:xfrm>
          <a:prstGeom prst="roundRect">
            <a:avLst>
              <a:gd name="adj" fmla="val 3335"/>
            </a:avLst>
          </a:prstGeom>
          <a:ln w="6350">
            <a:solidFill>
              <a:schemeClr val="bg1"/>
            </a:solidFill>
          </a:ln>
          <a:effectLst>
            <a:outerShdw blurRad="190500" sx="102000" sy="102000" algn="ctr" rotWithShape="0">
              <a:prstClr val="black">
                <a:alpha val="40000"/>
              </a:prstClr>
            </a:outerShdw>
            <a:softEdge rad="127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3B5C86-9CCB-9F78-42F4-3356D1C09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1477" y="0"/>
            <a:ext cx="1140251" cy="1146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43D2C0-520D-1C0F-B248-C17B420C9F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576676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F6F3C-A2EA-91B6-AD3D-1C99245B9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ACDFD50-7A8D-0DCF-F6AB-07C8EFC81E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81000" y="-10706100"/>
            <a:ext cx="34111196" cy="27885902"/>
          </a:xfrm>
          <a:custGeom>
            <a:avLst/>
            <a:gdLst/>
            <a:ahLst/>
            <a:cxnLst/>
            <a:rect l="l" t="t" r="r" b="b"/>
            <a:pathLst>
              <a:path w="34111196" h="27885902">
                <a:moveTo>
                  <a:pt x="0" y="0"/>
                </a:moveTo>
                <a:lnTo>
                  <a:pt x="34111196" y="0"/>
                </a:lnTo>
                <a:lnTo>
                  <a:pt x="34111196" y="27885902"/>
                </a:lnTo>
                <a:lnTo>
                  <a:pt x="0" y="27885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B7B1577-D9D9-B6DF-098D-E2C07431CE14}"/>
              </a:ext>
            </a:extLst>
          </p:cNvPr>
          <p:cNvSpPr txBox="1"/>
          <p:nvPr/>
        </p:nvSpPr>
        <p:spPr>
          <a:xfrm>
            <a:off x="1028700" y="419100"/>
            <a:ext cx="16230600" cy="193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094"/>
              </a:lnSpc>
              <a:spcBef>
                <a:spcPct val="0"/>
              </a:spcBef>
            </a:pPr>
            <a:r>
              <a:rPr lang="en-US" sz="15094" b="1" u="none" strike="noStrike" spc="-633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S</a:t>
            </a:r>
            <a:r>
              <a:rPr lang="en-US" sz="15094" b="1" spc="-633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ummary</a:t>
            </a:r>
            <a:endParaRPr lang="en-US" sz="15094" b="1" u="none" strike="noStrike" spc="-633" dirty="0">
              <a:solidFill>
                <a:srgbClr val="FFFFFF"/>
              </a:solidFill>
              <a:latin typeface="Kollektif Bold"/>
              <a:ea typeface="Kollektif Bold"/>
              <a:cs typeface="Kollektif Bold"/>
              <a:sym typeface="Kollektif Bold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42C8213C-5A87-74ED-0941-2AFC9770EF2A}"/>
              </a:ext>
            </a:extLst>
          </p:cNvPr>
          <p:cNvSpPr txBox="1"/>
          <p:nvPr/>
        </p:nvSpPr>
        <p:spPr>
          <a:xfrm>
            <a:off x="4152900" y="3190856"/>
            <a:ext cx="9982200" cy="3000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Built a complete and functional React e-commerce project.</a:t>
            </a:r>
          </a:p>
          <a:p>
            <a:pPr marL="571500" indent="-5715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6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571500" indent="-5715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Included pages: Home, Store, Coaches, </a:t>
            </a:r>
            <a:r>
              <a:rPr lang="en-US" sz="3600" dirty="0" err="1">
                <a:solidFill>
                  <a:schemeClr val="bg1"/>
                </a:solidFill>
              </a:rPr>
              <a:t>Equipments</a:t>
            </a:r>
            <a:r>
              <a:rPr lang="en-US" sz="3600" dirty="0">
                <a:solidFill>
                  <a:schemeClr val="bg1"/>
                </a:solidFill>
              </a:rPr>
              <a:t>, Login, Register, About Us</a:t>
            </a:r>
          </a:p>
          <a:p>
            <a:pPr marL="571500" indent="-5715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6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571500" indent="-5715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Implemented clean and user-friendly UI with responsive design</a:t>
            </a:r>
            <a:endParaRPr lang="en-US" sz="36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FC5334-FF10-08D9-C086-432F38E94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1477" y="0"/>
            <a:ext cx="1140251" cy="11469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77B53B-8AF4-951F-FE9A-F7EB65310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472374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1E7DDB-9F36-B63F-D7CD-0915D249C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4B0290-6E13-4DFA-E5D4-D1C88FA848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81000" y="-10706100"/>
            <a:ext cx="34111196" cy="27885902"/>
          </a:xfrm>
          <a:custGeom>
            <a:avLst/>
            <a:gdLst/>
            <a:ahLst/>
            <a:cxnLst/>
            <a:rect l="l" t="t" r="r" b="b"/>
            <a:pathLst>
              <a:path w="34111196" h="27885902">
                <a:moveTo>
                  <a:pt x="0" y="0"/>
                </a:moveTo>
                <a:lnTo>
                  <a:pt x="34111196" y="0"/>
                </a:lnTo>
                <a:lnTo>
                  <a:pt x="34111196" y="27885902"/>
                </a:lnTo>
                <a:lnTo>
                  <a:pt x="0" y="27885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AC3E46E-0933-CA55-EE3D-BEA9A5509045}"/>
              </a:ext>
            </a:extLst>
          </p:cNvPr>
          <p:cNvSpPr txBox="1"/>
          <p:nvPr/>
        </p:nvSpPr>
        <p:spPr>
          <a:xfrm>
            <a:off x="1028700" y="419100"/>
            <a:ext cx="16230600" cy="193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094"/>
              </a:lnSpc>
              <a:spcBef>
                <a:spcPct val="0"/>
              </a:spcBef>
            </a:pPr>
            <a:r>
              <a:rPr lang="en-US" sz="15094" b="1" u="none" strike="noStrike" spc="-633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Learnings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477EAC4B-A105-A842-9762-A2D8FF03B8A1}"/>
              </a:ext>
            </a:extLst>
          </p:cNvPr>
          <p:cNvSpPr txBox="1"/>
          <p:nvPr/>
        </p:nvSpPr>
        <p:spPr>
          <a:xfrm>
            <a:off x="3467100" y="3643185"/>
            <a:ext cx="11353800" cy="3000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Gained practical experience in React components and state management.</a:t>
            </a:r>
          </a:p>
          <a:p>
            <a:pPr marL="571500" indent="-5715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40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571500" indent="-5715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Learned routing with React Router and handling forms with validation.</a:t>
            </a:r>
          </a:p>
          <a:p>
            <a:pPr marL="571500" indent="-5715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40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571500" indent="-5715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Improved skills in styling, layout, and responsive design.</a:t>
            </a:r>
            <a:endParaRPr lang="en-US" sz="40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51B142-148D-EFFC-19A8-6C3502D1D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1477" y="0"/>
            <a:ext cx="1140251" cy="11469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426B79-D7E2-A574-D890-89C501256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223424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3ADF7-A902-0D50-CC80-47EBD34D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2C80FD-2EA8-56F7-8007-1FF902066F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81000" y="-10706100"/>
            <a:ext cx="34111196" cy="27885902"/>
          </a:xfrm>
          <a:custGeom>
            <a:avLst/>
            <a:gdLst/>
            <a:ahLst/>
            <a:cxnLst/>
            <a:rect l="l" t="t" r="r" b="b"/>
            <a:pathLst>
              <a:path w="34111196" h="27885902">
                <a:moveTo>
                  <a:pt x="0" y="0"/>
                </a:moveTo>
                <a:lnTo>
                  <a:pt x="34111196" y="0"/>
                </a:lnTo>
                <a:lnTo>
                  <a:pt x="34111196" y="27885902"/>
                </a:lnTo>
                <a:lnTo>
                  <a:pt x="0" y="27885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A56AC07-2B1E-4126-0063-E52E9BDA0808}"/>
              </a:ext>
            </a:extLst>
          </p:cNvPr>
          <p:cNvSpPr txBox="1"/>
          <p:nvPr/>
        </p:nvSpPr>
        <p:spPr>
          <a:xfrm>
            <a:off x="1028700" y="419100"/>
            <a:ext cx="16230600" cy="193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094"/>
              </a:lnSpc>
              <a:spcBef>
                <a:spcPct val="0"/>
              </a:spcBef>
            </a:pPr>
            <a:r>
              <a:rPr lang="en-US" sz="15094" b="1" u="none" strike="noStrike" spc="-633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Future Work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5B315AFD-FCAC-B6E5-08E8-74EEE6ED8B04}"/>
              </a:ext>
            </a:extLst>
          </p:cNvPr>
          <p:cNvSpPr txBox="1"/>
          <p:nvPr/>
        </p:nvSpPr>
        <p:spPr>
          <a:xfrm>
            <a:off x="3467100" y="3643185"/>
            <a:ext cx="11353800" cy="2641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Integrate a backend for dynamic data and user management.</a:t>
            </a:r>
          </a:p>
          <a:p>
            <a:pPr marL="571500" indent="-5715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</a:endParaRPr>
          </a:p>
          <a:p>
            <a:pPr marL="571500" indent="-5715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Add payment gateway for online transactions.</a:t>
            </a:r>
          </a:p>
          <a:p>
            <a:pPr marL="571500" indent="-5715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40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  <a:p>
            <a:pPr marL="571500" indent="-571500">
              <a:lnSpc>
                <a:spcPts val="29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Enhance user profiles and implement advanced search &amp; filter options.</a:t>
            </a:r>
            <a:endParaRPr lang="en-US" sz="4000" u="none" strike="noStrike" dirty="0">
              <a:solidFill>
                <a:schemeClr val="bg1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E129F1-531E-8B91-CA38-EB5498448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1477" y="0"/>
            <a:ext cx="1140251" cy="11469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9E5CD5-0FFA-2A33-BCE1-0D1BEBB6C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847321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C6FCCA-A1CC-DAA7-4838-F4A81AA1C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A4BB060-3683-FCE8-FADB-AEB9095B1A27}"/>
              </a:ext>
            </a:extLst>
          </p:cNvPr>
          <p:cNvSpPr/>
          <p:nvPr/>
        </p:nvSpPr>
        <p:spPr>
          <a:xfrm>
            <a:off x="1729711" y="-248460"/>
            <a:ext cx="14828579" cy="10783920"/>
          </a:xfrm>
          <a:custGeom>
            <a:avLst/>
            <a:gdLst/>
            <a:ahLst/>
            <a:cxnLst/>
            <a:rect l="l" t="t" r="r" b="b"/>
            <a:pathLst>
              <a:path w="14828579" h="10783920">
                <a:moveTo>
                  <a:pt x="0" y="0"/>
                </a:moveTo>
                <a:lnTo>
                  <a:pt x="14828578" y="0"/>
                </a:lnTo>
                <a:lnTo>
                  <a:pt x="14828578" y="10783920"/>
                </a:lnTo>
                <a:lnTo>
                  <a:pt x="0" y="10783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98" b="-86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90AF1F7-CBC3-EB65-FB0A-C4AE9D69548C}"/>
              </a:ext>
            </a:extLst>
          </p:cNvPr>
          <p:cNvSpPr txBox="1"/>
          <p:nvPr/>
        </p:nvSpPr>
        <p:spPr>
          <a:xfrm>
            <a:off x="5599002" y="1460210"/>
            <a:ext cx="7089997" cy="4069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712"/>
              </a:lnSpc>
              <a:spcBef>
                <a:spcPct val="0"/>
              </a:spcBef>
            </a:pPr>
            <a:r>
              <a:rPr lang="en-US" sz="26712" b="1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“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B69BB71-A17C-D0E9-61BD-14A59AB9E153}"/>
              </a:ext>
            </a:extLst>
          </p:cNvPr>
          <p:cNvSpPr txBox="1"/>
          <p:nvPr/>
        </p:nvSpPr>
        <p:spPr>
          <a:xfrm>
            <a:off x="3387812" y="3467700"/>
            <a:ext cx="11512375" cy="266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10400"/>
              </a:lnSpc>
              <a:spcBef>
                <a:spcPct val="0"/>
              </a:spcBef>
            </a:pPr>
            <a:r>
              <a:rPr lang="en-US" sz="10400" b="1" spc="-436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Any </a:t>
            </a:r>
          </a:p>
          <a:p>
            <a:pPr lvl="0" algn="ctr">
              <a:lnSpc>
                <a:spcPts val="10400"/>
              </a:lnSpc>
              <a:spcBef>
                <a:spcPct val="0"/>
              </a:spcBef>
            </a:pPr>
            <a:r>
              <a:rPr lang="en-US" sz="10400" b="1" spc="-436" dirty="0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Questions?</a:t>
            </a:r>
            <a:endParaRPr lang="en-US" sz="10400" b="1" u="none" strike="noStrike" spc="-436" dirty="0">
              <a:solidFill>
                <a:srgbClr val="FFFFFF"/>
              </a:solidFill>
              <a:latin typeface="Kollektif Bold"/>
              <a:ea typeface="Kollektif Bold"/>
              <a:cs typeface="Kollektif Bold"/>
              <a:sym typeface="Kollektif Bol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B0C7BE-08BA-445E-453C-A87A452A8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6205799"/>
            <a:ext cx="1524000" cy="152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6846BF-BCFA-076A-06D4-2E51B53B5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1477" y="0"/>
            <a:ext cx="1140251" cy="11469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555F91-6A2F-3A62-CF91-F055DA4966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585"/>
            <a:ext cx="1371600" cy="11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90253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934</Words>
  <Application>Microsoft Office PowerPoint</Application>
  <PresentationFormat>Custom</PresentationFormat>
  <Paragraphs>189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Kollektif</vt:lpstr>
      <vt:lpstr>Calibri</vt:lpstr>
      <vt:lpstr>Arial</vt:lpstr>
      <vt:lpstr>Kollektif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Gradient Minimalist Business Slides</dc:title>
  <dc:creator>Ziad Elhefnawy</dc:creator>
  <cp:lastModifiedBy>Ziad amro tawfiq elhefnawy</cp:lastModifiedBy>
  <cp:revision>7</cp:revision>
  <dcterms:created xsi:type="dcterms:W3CDTF">2006-08-16T00:00:00Z</dcterms:created>
  <dcterms:modified xsi:type="dcterms:W3CDTF">2025-11-30T19:23:42Z</dcterms:modified>
  <dc:identifier>DAG6LFdhIbo</dc:identifier>
</cp:coreProperties>
</file>